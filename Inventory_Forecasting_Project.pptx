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 Italics" charset="1" panose="020F05020202040A0204"/>
      <p:regular r:id="rId25"/>
    </p:embeddedFont>
    <p:embeddedFont>
      <p:font typeface="Calibri (MS)" charset="1" panose="020F0502020204030204"/>
      <p:regular r:id="rId26"/>
    </p:embeddedFont>
    <p:embeddedFont>
      <p:font typeface="Consolas Bold" charset="1" panose="020B0709020204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14800" y="-41148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548640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097280"/>
            <a:ext cx="15773400" cy="548640"/>
            <a:chOff x="0" y="0"/>
            <a:chExt cx="210312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031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600">
                  <a:solidFill>
                    <a:srgbClr val="008F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AWS CLOUD COMPUTING PROJECT  ·  RETAIL &amp; E-COMMERCE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2552700"/>
            <a:ext cx="15773400" cy="169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b="true" sz="900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Inventory Demand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7280" y="3924300"/>
            <a:ext cx="15773400" cy="169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6366F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Forecasting Platform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7280" y="5897880"/>
            <a:ext cx="15773400" cy="685800"/>
            <a:chOff x="0" y="0"/>
            <a:chExt cx="210312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serverless multi-AZ system for predicting weekly demand across 85 retail stores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9180" y="7094220"/>
            <a:ext cx="2133600" cy="76200"/>
            <a:chOff x="0" y="0"/>
            <a:chExt cx="2844800" cy="10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0" y="0"/>
              <a:ext cx="2743200" cy="101600"/>
            </a:xfrm>
            <a:custGeom>
              <a:avLst/>
              <a:gdLst/>
              <a:ahLst/>
              <a:cxnLst/>
              <a:rect r="r" b="b" t="t" l="l"/>
              <a:pathLst>
                <a:path h="1016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7406640"/>
            <a:ext cx="5486400" cy="411480"/>
            <a:chOff x="0" y="0"/>
            <a:chExt cx="73152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5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7838867"/>
            <a:ext cx="7771514" cy="1566118"/>
            <a:chOff x="0" y="0"/>
            <a:chExt cx="10362019" cy="20881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62016" cy="2088158"/>
            </a:xfrm>
            <a:custGeom>
              <a:avLst/>
              <a:gdLst/>
              <a:ahLst/>
              <a:cxnLst/>
              <a:rect r="r" b="b" t="t" l="l"/>
              <a:pathLst>
                <a:path h="2088158" w="10362016">
                  <a:moveTo>
                    <a:pt x="0" y="0"/>
                  </a:moveTo>
                  <a:lnTo>
                    <a:pt x="10362016" y="0"/>
                  </a:lnTo>
                  <a:lnTo>
                    <a:pt x="10362016" y="2088158"/>
                  </a:lnTo>
                  <a:lnTo>
                    <a:pt x="0" y="20881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95" r="0" b="-1858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362019" cy="2126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AP23110010170 G Harshith Sai</a:t>
              </a:r>
            </a:p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AP23110010055 P Sathvika </a:t>
              </a:r>
            </a:p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AP23110010221 Nissi Praharsha C</a:t>
              </a:r>
            </a:p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AP23110010019 D Manogyna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9424035"/>
            <a:ext cx="8229600" cy="411480"/>
            <a:chOff x="0" y="0"/>
            <a:chExt cx="109728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 ·  3rd Year Project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49075" y="8768715"/>
            <a:ext cx="1253490" cy="636270"/>
            <a:chOff x="0" y="0"/>
            <a:chExt cx="1671320" cy="848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6366F1">
                <a:alpha val="15686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71320" cy="848360"/>
            </a:xfrm>
            <a:custGeom>
              <a:avLst/>
              <a:gdLst/>
              <a:ahLst/>
              <a:cxnLst/>
              <a:rect r="r" b="b" t="t" l="l"/>
              <a:pathLst>
                <a:path h="848360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835660"/>
                  </a:lnTo>
                  <a:cubicBezTo>
                    <a:pt x="1671320" y="842645"/>
                    <a:pt x="1665605" y="848360"/>
                    <a:pt x="1658620" y="848360"/>
                  </a:cubicBezTo>
                  <a:lnTo>
                    <a:pt x="12700" y="848360"/>
                  </a:lnTo>
                  <a:cubicBezTo>
                    <a:pt x="5715" y="848360"/>
                    <a:pt x="0" y="842645"/>
                    <a:pt x="0" y="835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5660"/>
                  </a:lnTo>
                  <a:lnTo>
                    <a:pt x="12700" y="835660"/>
                  </a:lnTo>
                  <a:lnTo>
                    <a:pt x="12700" y="822960"/>
                  </a:lnTo>
                  <a:lnTo>
                    <a:pt x="1658620" y="822960"/>
                  </a:lnTo>
                  <a:lnTo>
                    <a:pt x="1658620" y="835660"/>
                  </a:lnTo>
                  <a:lnTo>
                    <a:pt x="1645920" y="835660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658600" y="8778240"/>
            <a:ext cx="1234440" cy="617220"/>
            <a:chOff x="0" y="0"/>
            <a:chExt cx="1645920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6459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952095" y="8768715"/>
            <a:ext cx="1253490" cy="636270"/>
            <a:chOff x="0" y="0"/>
            <a:chExt cx="1671320" cy="848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6366F1">
                <a:alpha val="15686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71320" cy="848360"/>
            </a:xfrm>
            <a:custGeom>
              <a:avLst/>
              <a:gdLst/>
              <a:ahLst/>
              <a:cxnLst/>
              <a:rect r="r" b="b" t="t" l="l"/>
              <a:pathLst>
                <a:path h="848360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835660"/>
                  </a:lnTo>
                  <a:cubicBezTo>
                    <a:pt x="1671320" y="842645"/>
                    <a:pt x="1665605" y="848360"/>
                    <a:pt x="1658620" y="848360"/>
                  </a:cubicBezTo>
                  <a:lnTo>
                    <a:pt x="12700" y="848360"/>
                  </a:lnTo>
                  <a:cubicBezTo>
                    <a:pt x="5715" y="848360"/>
                    <a:pt x="0" y="842645"/>
                    <a:pt x="0" y="835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5660"/>
                  </a:lnTo>
                  <a:lnTo>
                    <a:pt x="12700" y="835660"/>
                  </a:lnTo>
                  <a:lnTo>
                    <a:pt x="12700" y="822960"/>
                  </a:lnTo>
                  <a:lnTo>
                    <a:pt x="1658620" y="822960"/>
                  </a:lnTo>
                  <a:lnTo>
                    <a:pt x="1658620" y="835660"/>
                  </a:lnTo>
                  <a:lnTo>
                    <a:pt x="1645920" y="835660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961620" y="8778240"/>
            <a:ext cx="1234440" cy="617220"/>
            <a:chOff x="0" y="0"/>
            <a:chExt cx="164592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459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Lambda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255115" y="8768715"/>
            <a:ext cx="1253490" cy="636270"/>
            <a:chOff x="0" y="0"/>
            <a:chExt cx="1671320" cy="848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6366F1">
                <a:alpha val="15686"/>
              </a:srgbClr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71320" cy="848360"/>
            </a:xfrm>
            <a:custGeom>
              <a:avLst/>
              <a:gdLst/>
              <a:ahLst/>
              <a:cxnLst/>
              <a:rect r="r" b="b" t="t" l="l"/>
              <a:pathLst>
                <a:path h="848360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835660"/>
                  </a:lnTo>
                  <a:cubicBezTo>
                    <a:pt x="1671320" y="842645"/>
                    <a:pt x="1665605" y="848360"/>
                    <a:pt x="1658620" y="848360"/>
                  </a:cubicBezTo>
                  <a:lnTo>
                    <a:pt x="12700" y="848360"/>
                  </a:lnTo>
                  <a:cubicBezTo>
                    <a:pt x="5715" y="848360"/>
                    <a:pt x="0" y="842645"/>
                    <a:pt x="0" y="835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5660"/>
                  </a:lnTo>
                  <a:lnTo>
                    <a:pt x="12700" y="835660"/>
                  </a:lnTo>
                  <a:lnTo>
                    <a:pt x="12700" y="822960"/>
                  </a:lnTo>
                  <a:lnTo>
                    <a:pt x="1658620" y="822960"/>
                  </a:lnTo>
                  <a:lnTo>
                    <a:pt x="1658620" y="835660"/>
                  </a:lnTo>
                  <a:lnTo>
                    <a:pt x="1645920" y="835660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264640" y="8778240"/>
            <a:ext cx="1234440" cy="617220"/>
            <a:chOff x="0" y="0"/>
            <a:chExt cx="1645920" cy="822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6459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DynamoDB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558135" y="8768715"/>
            <a:ext cx="1253490" cy="636270"/>
            <a:chOff x="0" y="0"/>
            <a:chExt cx="1671320" cy="848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6366F1">
                <a:alpha val="15686"/>
              </a:srgbClr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71320" cy="848360"/>
            </a:xfrm>
            <a:custGeom>
              <a:avLst/>
              <a:gdLst/>
              <a:ahLst/>
              <a:cxnLst/>
              <a:rect r="r" b="b" t="t" l="l"/>
              <a:pathLst>
                <a:path h="848360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835660"/>
                  </a:lnTo>
                  <a:cubicBezTo>
                    <a:pt x="1671320" y="842645"/>
                    <a:pt x="1665605" y="848360"/>
                    <a:pt x="1658620" y="848360"/>
                  </a:cubicBezTo>
                  <a:lnTo>
                    <a:pt x="12700" y="848360"/>
                  </a:lnTo>
                  <a:cubicBezTo>
                    <a:pt x="5715" y="848360"/>
                    <a:pt x="0" y="842645"/>
                    <a:pt x="0" y="835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5660"/>
                  </a:lnTo>
                  <a:lnTo>
                    <a:pt x="12700" y="835660"/>
                  </a:lnTo>
                  <a:lnTo>
                    <a:pt x="12700" y="822960"/>
                  </a:lnTo>
                  <a:lnTo>
                    <a:pt x="1658620" y="822960"/>
                  </a:lnTo>
                  <a:lnTo>
                    <a:pt x="1658620" y="835660"/>
                  </a:lnTo>
                  <a:lnTo>
                    <a:pt x="1645920" y="835660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567660" y="8778240"/>
            <a:ext cx="1234440" cy="617220"/>
            <a:chOff x="0" y="0"/>
            <a:chExt cx="164592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6459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Two opposite inventory failures eating into retail margins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6275" y="2185035"/>
            <a:ext cx="8248650" cy="6054090"/>
            <a:chOff x="0" y="0"/>
            <a:chExt cx="10998200" cy="8072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09728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98200" cy="8072120"/>
            </a:xfrm>
            <a:custGeom>
              <a:avLst/>
              <a:gdLst/>
              <a:ahLst/>
              <a:cxnLst/>
              <a:rect r="r" b="b" t="t" l="l"/>
              <a:pathLst>
                <a:path h="807212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8059420"/>
                  </a:lnTo>
                  <a:cubicBezTo>
                    <a:pt x="10998200" y="8066405"/>
                    <a:pt x="10992485" y="8072120"/>
                    <a:pt x="10985500" y="8072120"/>
                  </a:cubicBezTo>
                  <a:lnTo>
                    <a:pt x="12700" y="8072120"/>
                  </a:lnTo>
                  <a:cubicBezTo>
                    <a:pt x="5715" y="8072120"/>
                    <a:pt x="0" y="8066405"/>
                    <a:pt x="0" y="8059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059420"/>
                  </a:lnTo>
                  <a:lnTo>
                    <a:pt x="12700" y="8059420"/>
                  </a:lnTo>
                  <a:lnTo>
                    <a:pt x="12700" y="8046720"/>
                  </a:lnTo>
                  <a:lnTo>
                    <a:pt x="10985500" y="8046720"/>
                  </a:lnTo>
                  <a:lnTo>
                    <a:pt x="10985500" y="8059420"/>
                  </a:lnTo>
                  <a:lnTo>
                    <a:pt x="10972800" y="805942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0" y="2194560"/>
            <a:ext cx="164592" cy="6035040"/>
            <a:chOff x="0" y="0"/>
            <a:chExt cx="219456" cy="8046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" cy="8046720"/>
            </a:xfrm>
            <a:custGeom>
              <a:avLst/>
              <a:gdLst/>
              <a:ahLst/>
              <a:cxnLst/>
              <a:rect r="r" b="b" t="t" l="l"/>
              <a:pathLst>
                <a:path h="804672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2537460"/>
            <a:ext cx="5486400" cy="548640"/>
            <a:chOff x="0" y="0"/>
            <a:chExt cx="7315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b="true" sz="2249" spc="818">
                  <a:solidFill>
                    <a:srgbClr val="EC48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STOCKOUTS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3429000"/>
            <a:ext cx="7543800" cy="822960"/>
            <a:chOff x="0" y="0"/>
            <a:chExt cx="1005840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00584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18% Revenue Loss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5860" y="4389120"/>
            <a:ext cx="7406640" cy="1371600"/>
            <a:chOff x="0" y="0"/>
            <a:chExt cx="987552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75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8755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Grocery &amp; FMCG categories run out during weekends and festival seasons. Restocking arrives 3 days too late.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5860" y="5897880"/>
            <a:ext cx="7406640" cy="2057400"/>
            <a:chOff x="0" y="0"/>
            <a:chExt cx="9875520" cy="2743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75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87552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Popular SKUs run out before reorder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walk out empty-handed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Lost revenue compounds weekly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17355" y="2185035"/>
            <a:ext cx="8248650" cy="6054090"/>
            <a:chOff x="0" y="0"/>
            <a:chExt cx="10998200" cy="8072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109728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98200" cy="8072120"/>
            </a:xfrm>
            <a:custGeom>
              <a:avLst/>
              <a:gdLst/>
              <a:ahLst/>
              <a:cxnLst/>
              <a:rect r="r" b="b" t="t" l="l"/>
              <a:pathLst>
                <a:path h="807212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8059420"/>
                  </a:lnTo>
                  <a:cubicBezTo>
                    <a:pt x="10998200" y="8066405"/>
                    <a:pt x="10992485" y="8072120"/>
                    <a:pt x="10985500" y="8072120"/>
                  </a:cubicBezTo>
                  <a:lnTo>
                    <a:pt x="12700" y="8072120"/>
                  </a:lnTo>
                  <a:cubicBezTo>
                    <a:pt x="5715" y="8072120"/>
                    <a:pt x="0" y="8066405"/>
                    <a:pt x="0" y="8059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059420"/>
                  </a:lnTo>
                  <a:lnTo>
                    <a:pt x="12700" y="8059420"/>
                  </a:lnTo>
                  <a:lnTo>
                    <a:pt x="12700" y="8046720"/>
                  </a:lnTo>
                  <a:lnTo>
                    <a:pt x="10985500" y="8046720"/>
                  </a:lnTo>
                  <a:lnTo>
                    <a:pt x="10985500" y="8059420"/>
                  </a:lnTo>
                  <a:lnTo>
                    <a:pt x="10972800" y="805942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26880" y="2194560"/>
            <a:ext cx="164592" cy="6035040"/>
            <a:chOff x="0" y="0"/>
            <a:chExt cx="219456" cy="8046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" cy="8046720"/>
            </a:xfrm>
            <a:custGeom>
              <a:avLst/>
              <a:gdLst/>
              <a:ahLst/>
              <a:cxnLst/>
              <a:rect r="r" b="b" t="t" l="l"/>
              <a:pathLst>
                <a:path h="804672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06940" y="2537460"/>
            <a:ext cx="5486400" cy="548640"/>
            <a:chOff x="0" y="0"/>
            <a:chExt cx="73152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b="true" sz="2249" spc="818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OVERSTOCKING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06940" y="3429000"/>
            <a:ext cx="7543800" cy="822960"/>
            <a:chOff x="0" y="0"/>
            <a:chExt cx="100584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100584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Capital Tied Up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06940" y="4389120"/>
            <a:ext cx="7406640" cy="1371600"/>
            <a:chOff x="0" y="0"/>
            <a:chExt cx="987552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875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8755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Slow-moving household appliances pile up in warehouses, eventually sold at markdown prices.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06940" y="5897880"/>
            <a:ext cx="7406640" cy="2057400"/>
            <a:chOff x="0" y="0"/>
            <a:chExt cx="9875520" cy="2743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875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87552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Working capital frozen each quarter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Storage and handling costs accumulate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End-of-quarter markdown losses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Stays Broken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current data pipeline is fundamentally too slow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6275" y="2185035"/>
            <a:ext cx="8248650" cy="3036570"/>
            <a:chOff x="0" y="0"/>
            <a:chExt cx="10998200" cy="4048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09728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982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4036060"/>
                  </a:lnTo>
                  <a:cubicBezTo>
                    <a:pt x="10998200" y="4043045"/>
                    <a:pt x="10992485" y="4048760"/>
                    <a:pt x="1098550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10985500" y="4023360"/>
                  </a:lnTo>
                  <a:lnTo>
                    <a:pt x="10985500" y="4036060"/>
                  </a:lnTo>
                  <a:lnTo>
                    <a:pt x="10972800" y="403606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97280" y="2375535"/>
            <a:ext cx="34290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6366F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7280" y="3977640"/>
            <a:ext cx="4114800" cy="411480"/>
            <a:chOff x="0" y="0"/>
            <a:chExt cx="5486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STORES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800600" y="2705100"/>
            <a:ext cx="38404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Submit weekly data in inconsistent formats — CSV exports, scanned ledgers, typed notes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7355" y="2185035"/>
            <a:ext cx="8248650" cy="3036570"/>
            <a:chOff x="0" y="0"/>
            <a:chExt cx="10998200" cy="4048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09728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982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4036060"/>
                  </a:lnTo>
                  <a:cubicBezTo>
                    <a:pt x="10998200" y="4043045"/>
                    <a:pt x="10992485" y="4048760"/>
                    <a:pt x="1098550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10985500" y="4023360"/>
                  </a:lnTo>
                  <a:lnTo>
                    <a:pt x="10985500" y="4036060"/>
                  </a:lnTo>
                  <a:lnTo>
                    <a:pt x="10972800" y="403606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38360" y="2375535"/>
            <a:ext cx="34290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14B8A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2,400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38360" y="3977640"/>
            <a:ext cx="4114800" cy="411480"/>
            <a:chOff x="0" y="0"/>
            <a:chExt cx="5486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ACTIVE SKUs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441680" y="2705100"/>
            <a:ext cx="38404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But only the top 50 receive analyst forecasts. The other 2,350 rely on guesswork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6275" y="5545455"/>
            <a:ext cx="8248650" cy="3036570"/>
            <a:chOff x="0" y="0"/>
            <a:chExt cx="10998200" cy="404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109728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982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4036060"/>
                  </a:lnTo>
                  <a:cubicBezTo>
                    <a:pt x="10998200" y="4043045"/>
                    <a:pt x="10992485" y="4048760"/>
                    <a:pt x="1098550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10985500" y="4023360"/>
                  </a:lnTo>
                  <a:lnTo>
                    <a:pt x="10985500" y="4036060"/>
                  </a:lnTo>
                  <a:lnTo>
                    <a:pt x="10972800" y="403606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97280" y="5735955"/>
            <a:ext cx="34290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EC48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 days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97280" y="7338060"/>
            <a:ext cx="4114800" cy="411480"/>
            <a:chOff x="0" y="0"/>
            <a:chExt cx="54864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DELAY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800600" y="6065520"/>
            <a:ext cx="38404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Reorder recommendations arrive 8 days after week ends — well after stockouts occur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17355" y="5545455"/>
            <a:ext cx="8248650" cy="3036570"/>
            <a:chOff x="0" y="0"/>
            <a:chExt cx="10998200" cy="4048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109728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982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4036060"/>
                  </a:lnTo>
                  <a:cubicBezTo>
                    <a:pt x="10998200" y="4043045"/>
                    <a:pt x="10992485" y="4048760"/>
                    <a:pt x="1098550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10985500" y="4023360"/>
                  </a:lnTo>
                  <a:lnTo>
                    <a:pt x="10985500" y="4036060"/>
                  </a:lnTo>
                  <a:lnTo>
                    <a:pt x="10972800" y="403606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738360" y="5735955"/>
            <a:ext cx="34290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738360" y="7338060"/>
            <a:ext cx="4114800" cy="411480"/>
            <a:chOff x="0" y="0"/>
            <a:chExt cx="5486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ANALYSTS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441680" y="6065520"/>
            <a:ext cx="38404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Two people manually forecast for an entire 85-store chain. Cannot scale further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85800" y="8915400"/>
            <a:ext cx="16870680" cy="548640"/>
            <a:chOff x="0" y="0"/>
            <a:chExt cx="2249424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49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2494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→ The result: every week, the chain loses money to BOTH stockouts and overstocking simultaneously.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An intelligent, automated, serverless forecasting platform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800" y="2194560"/>
            <a:ext cx="16870680" cy="1920240"/>
            <a:chOff x="0" y="0"/>
            <a:chExt cx="22494240" cy="2560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94239" cy="2560320"/>
            </a:xfrm>
            <a:custGeom>
              <a:avLst/>
              <a:gdLst/>
              <a:ahLst/>
              <a:cxnLst/>
              <a:rect r="r" b="b" t="t" l="l"/>
              <a:pathLst>
                <a:path h="25603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2400300"/>
            <a:ext cx="15499080" cy="1508760"/>
            <a:chOff x="0" y="0"/>
            <a:chExt cx="20665440" cy="2011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654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164" r="0" b="-1501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66544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Replace manual planning with a cloud-native pipeline that ingests data automatically, runs forecasting models for every SKU in every store, and alerts managers BEFORE stockouts occur.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" y="4516755"/>
            <a:ext cx="5505450" cy="4682490"/>
            <a:chOff x="0" y="0"/>
            <a:chExt cx="7340600" cy="6243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7315200" cy="6217920"/>
            </a:xfrm>
            <a:custGeom>
              <a:avLst/>
              <a:gdLst/>
              <a:ahLst/>
              <a:cxnLst/>
              <a:rect r="r" b="b" t="t" l="l"/>
              <a:pathLst>
                <a:path h="6217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0600" cy="6243320"/>
            </a:xfrm>
            <a:custGeom>
              <a:avLst/>
              <a:gdLst/>
              <a:ahLst/>
              <a:cxnLst/>
              <a:rect r="r" b="b" t="t" l="l"/>
              <a:pathLst>
                <a:path h="62433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6230620"/>
                  </a:lnTo>
                  <a:cubicBezTo>
                    <a:pt x="7340600" y="6237605"/>
                    <a:pt x="7334885" y="6243320"/>
                    <a:pt x="7327900" y="6243320"/>
                  </a:cubicBezTo>
                  <a:lnTo>
                    <a:pt x="12700" y="6243320"/>
                  </a:lnTo>
                  <a:cubicBezTo>
                    <a:pt x="5715" y="6243320"/>
                    <a:pt x="0" y="6237605"/>
                    <a:pt x="0" y="6230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230620"/>
                  </a:lnTo>
                  <a:lnTo>
                    <a:pt x="12700" y="6230620"/>
                  </a:lnTo>
                  <a:lnTo>
                    <a:pt x="12700" y="6217920"/>
                  </a:lnTo>
                  <a:lnTo>
                    <a:pt x="7327900" y="6217920"/>
                  </a:lnTo>
                  <a:lnTo>
                    <a:pt x="7327900" y="6230620"/>
                  </a:lnTo>
                  <a:lnTo>
                    <a:pt x="7315200" y="62306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4800600"/>
            <a:ext cx="4800600" cy="685800"/>
            <a:chOff x="0" y="0"/>
            <a:chExt cx="64008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640080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Multi-Format Ingestion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94232" y="6246495"/>
            <a:ext cx="480060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Accepts CSV exports, scanned PDF ledgers (Textract OCR), and typed notes (Comprehend NLP) — no manual data entry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33007" y="4516755"/>
            <a:ext cx="5505450" cy="4682490"/>
            <a:chOff x="0" y="0"/>
            <a:chExt cx="7340600" cy="6243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7315200" cy="6217920"/>
            </a:xfrm>
            <a:custGeom>
              <a:avLst/>
              <a:gdLst/>
              <a:ahLst/>
              <a:cxnLst/>
              <a:rect r="r" b="b" t="t" l="l"/>
              <a:pathLst>
                <a:path h="6217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0600" cy="6243320"/>
            </a:xfrm>
            <a:custGeom>
              <a:avLst/>
              <a:gdLst/>
              <a:ahLst/>
              <a:cxnLst/>
              <a:rect r="r" b="b" t="t" l="l"/>
              <a:pathLst>
                <a:path h="62433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6230620"/>
                  </a:lnTo>
                  <a:cubicBezTo>
                    <a:pt x="7340600" y="6237605"/>
                    <a:pt x="7334885" y="6243320"/>
                    <a:pt x="7327900" y="6243320"/>
                  </a:cubicBezTo>
                  <a:lnTo>
                    <a:pt x="12700" y="6243320"/>
                  </a:lnTo>
                  <a:cubicBezTo>
                    <a:pt x="5715" y="6243320"/>
                    <a:pt x="0" y="6237605"/>
                    <a:pt x="0" y="6230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230620"/>
                  </a:lnTo>
                  <a:lnTo>
                    <a:pt x="12700" y="6230620"/>
                  </a:lnTo>
                  <a:lnTo>
                    <a:pt x="12700" y="6217920"/>
                  </a:lnTo>
                  <a:lnTo>
                    <a:pt x="7327900" y="6217920"/>
                  </a:lnTo>
                  <a:lnTo>
                    <a:pt x="7327900" y="6230620"/>
                  </a:lnTo>
                  <a:lnTo>
                    <a:pt x="7315200" y="62306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54012" y="4800600"/>
            <a:ext cx="4800600" cy="685800"/>
            <a:chOff x="0" y="0"/>
            <a:chExt cx="64008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400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Automated Forecasting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954012" y="6124575"/>
            <a:ext cx="480060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Statistical demand models run for every SKU × store combination, accounting for weekday/weekend patterns and seasonality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389739" y="4516755"/>
            <a:ext cx="5505450" cy="4682490"/>
            <a:chOff x="0" y="0"/>
            <a:chExt cx="7340600" cy="6243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7315200" cy="6217920"/>
            </a:xfrm>
            <a:custGeom>
              <a:avLst/>
              <a:gdLst/>
              <a:ahLst/>
              <a:cxnLst/>
              <a:rect r="r" b="b" t="t" l="l"/>
              <a:pathLst>
                <a:path h="6217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40600" cy="6243320"/>
            </a:xfrm>
            <a:custGeom>
              <a:avLst/>
              <a:gdLst/>
              <a:ahLst/>
              <a:cxnLst/>
              <a:rect r="r" b="b" t="t" l="l"/>
              <a:pathLst>
                <a:path h="62433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6230620"/>
                  </a:lnTo>
                  <a:cubicBezTo>
                    <a:pt x="7340600" y="6237605"/>
                    <a:pt x="7334885" y="6243320"/>
                    <a:pt x="7327900" y="6243320"/>
                  </a:cubicBezTo>
                  <a:lnTo>
                    <a:pt x="12700" y="6243320"/>
                  </a:lnTo>
                  <a:cubicBezTo>
                    <a:pt x="5715" y="6243320"/>
                    <a:pt x="0" y="6237605"/>
                    <a:pt x="0" y="6230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230620"/>
                  </a:lnTo>
                  <a:lnTo>
                    <a:pt x="12700" y="6230620"/>
                  </a:lnTo>
                  <a:lnTo>
                    <a:pt x="12700" y="6217920"/>
                  </a:lnTo>
                  <a:lnTo>
                    <a:pt x="7327900" y="6217920"/>
                  </a:lnTo>
                  <a:lnTo>
                    <a:pt x="7327900" y="6230620"/>
                  </a:lnTo>
                  <a:lnTo>
                    <a:pt x="7315200" y="62306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809982" y="4800600"/>
            <a:ext cx="4800600" cy="685800"/>
            <a:chOff x="0" y="0"/>
            <a:chExt cx="64008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400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Proactive Alerts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809982" y="6246495"/>
            <a:ext cx="48006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When projected stock will fall below safety threshold, system generates purchase orders before stockouts happen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End-to-end serverless flow inside a custom Multi-AZ VPC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39115" y="2322195"/>
            <a:ext cx="3310890" cy="6877050"/>
            <a:chOff x="0" y="0"/>
            <a:chExt cx="4414520" cy="916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4389120" cy="9144000"/>
            </a:xfrm>
            <a:custGeom>
              <a:avLst/>
              <a:gdLst/>
              <a:ahLst/>
              <a:cxnLst/>
              <a:rect r="r" b="b" t="t" l="l"/>
              <a:pathLst>
                <a:path h="91440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EEF2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14520" cy="9169400"/>
            </a:xfrm>
            <a:custGeom>
              <a:avLst/>
              <a:gdLst/>
              <a:ahLst/>
              <a:cxnLst/>
              <a:rect r="r" b="b" t="t" l="l"/>
              <a:pathLst>
                <a:path h="9169400" w="4414520">
                  <a:moveTo>
                    <a:pt x="12700" y="0"/>
                  </a:moveTo>
                  <a:lnTo>
                    <a:pt x="4401820" y="0"/>
                  </a:lnTo>
                  <a:cubicBezTo>
                    <a:pt x="4408805" y="0"/>
                    <a:pt x="4414520" y="5715"/>
                    <a:pt x="4414520" y="12700"/>
                  </a:cubicBezTo>
                  <a:lnTo>
                    <a:pt x="4414520" y="9156700"/>
                  </a:lnTo>
                  <a:cubicBezTo>
                    <a:pt x="4414520" y="9163685"/>
                    <a:pt x="4408805" y="9169400"/>
                    <a:pt x="4401820" y="9169400"/>
                  </a:cubicBezTo>
                  <a:lnTo>
                    <a:pt x="12700" y="9169400"/>
                  </a:lnTo>
                  <a:cubicBezTo>
                    <a:pt x="5715" y="9169400"/>
                    <a:pt x="0" y="9163685"/>
                    <a:pt x="0" y="9156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156700"/>
                  </a:lnTo>
                  <a:lnTo>
                    <a:pt x="12700" y="9156700"/>
                  </a:lnTo>
                  <a:lnTo>
                    <a:pt x="12700" y="9144000"/>
                  </a:lnTo>
                  <a:lnTo>
                    <a:pt x="4401820" y="9144000"/>
                  </a:lnTo>
                  <a:lnTo>
                    <a:pt x="4401820" y="9156700"/>
                  </a:lnTo>
                  <a:lnTo>
                    <a:pt x="4389120" y="9156700"/>
                  </a:lnTo>
                  <a:lnTo>
                    <a:pt x="4389120" y="12700"/>
                  </a:lnTo>
                  <a:lnTo>
                    <a:pt x="4401820" y="12700"/>
                  </a:lnTo>
                  <a:lnTo>
                    <a:pt x="4401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2537460"/>
            <a:ext cx="3291840" cy="411480"/>
            <a:chOff x="0" y="0"/>
            <a:chExt cx="438912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3891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450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SOURCES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3435" y="3145155"/>
            <a:ext cx="2762250" cy="1596390"/>
            <a:chOff x="0" y="0"/>
            <a:chExt cx="3683000" cy="2128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8300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683000">
                  <a:moveTo>
                    <a:pt x="12700" y="0"/>
                  </a:moveTo>
                  <a:lnTo>
                    <a:pt x="3670300" y="0"/>
                  </a:lnTo>
                  <a:cubicBezTo>
                    <a:pt x="3677285" y="0"/>
                    <a:pt x="3683000" y="5715"/>
                    <a:pt x="3683000" y="12700"/>
                  </a:cubicBezTo>
                  <a:lnTo>
                    <a:pt x="3683000" y="2115820"/>
                  </a:lnTo>
                  <a:cubicBezTo>
                    <a:pt x="3683000" y="2122805"/>
                    <a:pt x="3677285" y="2128520"/>
                    <a:pt x="3670300" y="2128520"/>
                  </a:cubicBezTo>
                  <a:lnTo>
                    <a:pt x="12700" y="2128520"/>
                  </a:lnTo>
                  <a:cubicBezTo>
                    <a:pt x="5715" y="2128520"/>
                    <a:pt x="0" y="2122805"/>
                    <a:pt x="0" y="2115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820"/>
                  </a:lnTo>
                  <a:lnTo>
                    <a:pt x="12700" y="2115820"/>
                  </a:lnTo>
                  <a:lnTo>
                    <a:pt x="12700" y="2103120"/>
                  </a:lnTo>
                  <a:lnTo>
                    <a:pt x="3670300" y="2103120"/>
                  </a:lnTo>
                  <a:lnTo>
                    <a:pt x="3670300" y="2115820"/>
                  </a:lnTo>
                  <a:lnTo>
                    <a:pt x="3657600" y="2115820"/>
                  </a:lnTo>
                  <a:lnTo>
                    <a:pt x="3657600" y="12700"/>
                  </a:lnTo>
                  <a:lnTo>
                    <a:pt x="3670300" y="12700"/>
                  </a:lnTo>
                  <a:lnTo>
                    <a:pt x="3670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3429000"/>
            <a:ext cx="2743200" cy="548640"/>
            <a:chOff x="0" y="0"/>
            <a:chExt cx="36576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CSV Sales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4046220"/>
            <a:ext cx="2743200" cy="411480"/>
            <a:chOff x="0" y="0"/>
            <a:chExt cx="36576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POS exports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13435" y="5133975"/>
            <a:ext cx="2762250" cy="1596390"/>
            <a:chOff x="0" y="0"/>
            <a:chExt cx="3683000" cy="2128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8300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683000">
                  <a:moveTo>
                    <a:pt x="12700" y="0"/>
                  </a:moveTo>
                  <a:lnTo>
                    <a:pt x="3670300" y="0"/>
                  </a:lnTo>
                  <a:cubicBezTo>
                    <a:pt x="3677285" y="0"/>
                    <a:pt x="3683000" y="5715"/>
                    <a:pt x="3683000" y="12700"/>
                  </a:cubicBezTo>
                  <a:lnTo>
                    <a:pt x="3683000" y="2115820"/>
                  </a:lnTo>
                  <a:cubicBezTo>
                    <a:pt x="3683000" y="2122805"/>
                    <a:pt x="3677285" y="2128520"/>
                    <a:pt x="3670300" y="2128520"/>
                  </a:cubicBezTo>
                  <a:lnTo>
                    <a:pt x="12700" y="2128520"/>
                  </a:lnTo>
                  <a:cubicBezTo>
                    <a:pt x="5715" y="2128520"/>
                    <a:pt x="0" y="2122805"/>
                    <a:pt x="0" y="2115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820"/>
                  </a:lnTo>
                  <a:lnTo>
                    <a:pt x="12700" y="2115820"/>
                  </a:lnTo>
                  <a:lnTo>
                    <a:pt x="12700" y="2103120"/>
                  </a:lnTo>
                  <a:lnTo>
                    <a:pt x="3670300" y="2103120"/>
                  </a:lnTo>
                  <a:lnTo>
                    <a:pt x="3670300" y="2115820"/>
                  </a:lnTo>
                  <a:lnTo>
                    <a:pt x="3657600" y="2115820"/>
                  </a:lnTo>
                  <a:lnTo>
                    <a:pt x="3657600" y="12700"/>
                  </a:lnTo>
                  <a:lnTo>
                    <a:pt x="3670300" y="12700"/>
                  </a:lnTo>
                  <a:lnTo>
                    <a:pt x="3670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5417820"/>
            <a:ext cx="2743200" cy="548640"/>
            <a:chOff x="0" y="0"/>
            <a:chExt cx="36576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Scanned PDFs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6035040"/>
            <a:ext cx="2743200" cy="411480"/>
            <a:chOff x="0" y="0"/>
            <a:chExt cx="36576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Handwritten ledgers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3435" y="7122795"/>
            <a:ext cx="2762250" cy="1596390"/>
            <a:chOff x="0" y="0"/>
            <a:chExt cx="3683000" cy="2128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8300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683000">
                  <a:moveTo>
                    <a:pt x="12700" y="0"/>
                  </a:moveTo>
                  <a:lnTo>
                    <a:pt x="3670300" y="0"/>
                  </a:lnTo>
                  <a:cubicBezTo>
                    <a:pt x="3677285" y="0"/>
                    <a:pt x="3683000" y="5715"/>
                    <a:pt x="3683000" y="12700"/>
                  </a:cubicBezTo>
                  <a:lnTo>
                    <a:pt x="3683000" y="2115820"/>
                  </a:lnTo>
                  <a:cubicBezTo>
                    <a:pt x="3683000" y="2122805"/>
                    <a:pt x="3677285" y="2128520"/>
                    <a:pt x="3670300" y="2128520"/>
                  </a:cubicBezTo>
                  <a:lnTo>
                    <a:pt x="12700" y="2128520"/>
                  </a:lnTo>
                  <a:cubicBezTo>
                    <a:pt x="5715" y="2128520"/>
                    <a:pt x="0" y="2122805"/>
                    <a:pt x="0" y="2115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820"/>
                  </a:lnTo>
                  <a:lnTo>
                    <a:pt x="12700" y="2115820"/>
                  </a:lnTo>
                  <a:lnTo>
                    <a:pt x="12700" y="2103120"/>
                  </a:lnTo>
                  <a:lnTo>
                    <a:pt x="3670300" y="2103120"/>
                  </a:lnTo>
                  <a:lnTo>
                    <a:pt x="3670300" y="2115820"/>
                  </a:lnTo>
                  <a:lnTo>
                    <a:pt x="3657600" y="2115820"/>
                  </a:lnTo>
                  <a:lnTo>
                    <a:pt x="3657600" y="12700"/>
                  </a:lnTo>
                  <a:lnTo>
                    <a:pt x="3670300" y="12700"/>
                  </a:lnTo>
                  <a:lnTo>
                    <a:pt x="3670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7406640"/>
            <a:ext cx="2743200" cy="548640"/>
            <a:chOff x="0" y="0"/>
            <a:chExt cx="36576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3657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Typed Notes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8023860"/>
            <a:ext cx="2743200" cy="411480"/>
            <a:chOff x="0" y="0"/>
            <a:chExt cx="36576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Manager memos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379595" y="2322195"/>
            <a:ext cx="5779770" cy="6877050"/>
            <a:chOff x="0" y="0"/>
            <a:chExt cx="7706360" cy="9169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7680960" cy="9144000"/>
            </a:xfrm>
            <a:custGeom>
              <a:avLst/>
              <a:gdLst/>
              <a:ahLst/>
              <a:cxnLst/>
              <a:rect r="r" b="b" t="t" l="l"/>
              <a:pathLst>
                <a:path h="91440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F0FDFA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7063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7706360">
                  <a:moveTo>
                    <a:pt x="12700" y="0"/>
                  </a:moveTo>
                  <a:lnTo>
                    <a:pt x="7693660" y="0"/>
                  </a:lnTo>
                  <a:cubicBezTo>
                    <a:pt x="7700645" y="0"/>
                    <a:pt x="7706360" y="5715"/>
                    <a:pt x="7706360" y="12700"/>
                  </a:cubicBezTo>
                  <a:lnTo>
                    <a:pt x="7706360" y="9156700"/>
                  </a:lnTo>
                  <a:cubicBezTo>
                    <a:pt x="7706360" y="9163685"/>
                    <a:pt x="7700645" y="9169400"/>
                    <a:pt x="7693660" y="9169400"/>
                  </a:cubicBezTo>
                  <a:lnTo>
                    <a:pt x="12700" y="9169400"/>
                  </a:lnTo>
                  <a:cubicBezTo>
                    <a:pt x="5715" y="9169400"/>
                    <a:pt x="0" y="9163685"/>
                    <a:pt x="0" y="9156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156700"/>
                  </a:lnTo>
                  <a:lnTo>
                    <a:pt x="12700" y="9156700"/>
                  </a:lnTo>
                  <a:lnTo>
                    <a:pt x="12700" y="9144000"/>
                  </a:lnTo>
                  <a:lnTo>
                    <a:pt x="7693660" y="9144000"/>
                  </a:lnTo>
                  <a:lnTo>
                    <a:pt x="7693660" y="9156700"/>
                  </a:lnTo>
                  <a:lnTo>
                    <a:pt x="7680960" y="9156700"/>
                  </a:lnTo>
                  <a:lnTo>
                    <a:pt x="7680960" y="12700"/>
                  </a:lnTo>
                  <a:lnTo>
                    <a:pt x="7693660" y="12700"/>
                  </a:lnTo>
                  <a:lnTo>
                    <a:pt x="7693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389120" y="2537460"/>
            <a:ext cx="5760720" cy="411480"/>
            <a:chOff x="0" y="0"/>
            <a:chExt cx="768096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80960" cy="548640"/>
            </a:xfrm>
            <a:custGeom>
              <a:avLst/>
              <a:gdLst/>
              <a:ahLst/>
              <a:cxnLst/>
              <a:rect r="r" b="b" t="t" l="l"/>
              <a:pathLst>
                <a:path h="548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6809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45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AWS PROCESSING (PRIVATE SUBNETS)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653915" y="3145155"/>
            <a:ext cx="5231130" cy="979170"/>
            <a:chOff x="0" y="0"/>
            <a:chExt cx="6974840" cy="13055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2700" y="12700"/>
              <a:ext cx="69494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974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697484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1292860"/>
                  </a:lnTo>
                  <a:cubicBezTo>
                    <a:pt x="6974840" y="1299845"/>
                    <a:pt x="6969125" y="1305560"/>
                    <a:pt x="6962140" y="1305560"/>
                  </a:cubicBezTo>
                  <a:lnTo>
                    <a:pt x="12700" y="1305560"/>
                  </a:lnTo>
                  <a:cubicBezTo>
                    <a:pt x="5715" y="1305560"/>
                    <a:pt x="0" y="1299845"/>
                    <a:pt x="0" y="12928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92860"/>
                  </a:lnTo>
                  <a:lnTo>
                    <a:pt x="12700" y="1292860"/>
                  </a:lnTo>
                  <a:lnTo>
                    <a:pt x="12700" y="1280160"/>
                  </a:lnTo>
                  <a:lnTo>
                    <a:pt x="6962140" y="1280160"/>
                  </a:lnTo>
                  <a:lnTo>
                    <a:pt x="6962140" y="1292860"/>
                  </a:lnTo>
                  <a:lnTo>
                    <a:pt x="6949440" y="129286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663440" y="3154680"/>
            <a:ext cx="5212080" cy="960120"/>
            <a:chOff x="0" y="0"/>
            <a:chExt cx="6949440" cy="12801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494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9494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S3 Data Lake  ·  5 buckets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653915" y="4311015"/>
            <a:ext cx="5231130" cy="2213610"/>
            <a:chOff x="0" y="0"/>
            <a:chExt cx="6974840" cy="2951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69494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9748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697484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2938780"/>
                  </a:lnTo>
                  <a:cubicBezTo>
                    <a:pt x="6974840" y="2945765"/>
                    <a:pt x="6969125" y="2951480"/>
                    <a:pt x="696214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6962140" y="2926080"/>
                  </a:lnTo>
                  <a:lnTo>
                    <a:pt x="6962140" y="2938780"/>
                  </a:lnTo>
                  <a:lnTo>
                    <a:pt x="6949440" y="293878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663440" y="4457700"/>
            <a:ext cx="5212080" cy="480060"/>
            <a:chOff x="0" y="0"/>
            <a:chExt cx="694944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9494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Lambda Functions (7)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663440" y="4937760"/>
            <a:ext cx="5212080" cy="1577340"/>
            <a:chOff x="0" y="0"/>
            <a:chExt cx="6949440" cy="2103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494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85" r="0" b="-1438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9494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process-csv-sales · process-scanned-ledger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process-typed-sales · forecast-demand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check-stockouts-alert · api-get-forecasts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cognito-post-signup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653915" y="6711315"/>
            <a:ext cx="5231130" cy="1184910"/>
            <a:chOff x="0" y="0"/>
            <a:chExt cx="6974840" cy="1579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2700" y="12700"/>
              <a:ext cx="69494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974840" cy="1579880"/>
            </a:xfrm>
            <a:custGeom>
              <a:avLst/>
              <a:gdLst/>
              <a:ahLst/>
              <a:cxnLst/>
              <a:rect r="r" b="b" t="t" l="l"/>
              <a:pathLst>
                <a:path h="1579880" w="697484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1567180"/>
                  </a:lnTo>
                  <a:cubicBezTo>
                    <a:pt x="6974840" y="1574165"/>
                    <a:pt x="6969125" y="1579880"/>
                    <a:pt x="6962140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6962140" y="1554480"/>
                  </a:lnTo>
                  <a:lnTo>
                    <a:pt x="6962140" y="1567180"/>
                  </a:lnTo>
                  <a:lnTo>
                    <a:pt x="6949440" y="156718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663440" y="6789420"/>
            <a:ext cx="5212080" cy="480060"/>
            <a:chOff x="0" y="0"/>
            <a:chExt cx="694944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69494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DynamoDB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663440" y="7269480"/>
            <a:ext cx="5212080" cy="480060"/>
            <a:chOff x="0" y="0"/>
            <a:chExt cx="694944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9494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Forecasts · Inventory · Stores · Users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653915" y="8014335"/>
            <a:ext cx="5231130" cy="979170"/>
            <a:chOff x="0" y="0"/>
            <a:chExt cx="6974840" cy="13055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2700" y="12700"/>
              <a:ext cx="69494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974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697484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1292860"/>
                  </a:lnTo>
                  <a:cubicBezTo>
                    <a:pt x="6974840" y="1299845"/>
                    <a:pt x="6969125" y="1305560"/>
                    <a:pt x="6962140" y="1305560"/>
                  </a:cubicBezTo>
                  <a:lnTo>
                    <a:pt x="12700" y="1305560"/>
                  </a:lnTo>
                  <a:cubicBezTo>
                    <a:pt x="5715" y="1305560"/>
                    <a:pt x="0" y="1299845"/>
                    <a:pt x="0" y="12928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92860"/>
                  </a:lnTo>
                  <a:lnTo>
                    <a:pt x="12700" y="1292860"/>
                  </a:lnTo>
                  <a:lnTo>
                    <a:pt x="12700" y="1280160"/>
                  </a:lnTo>
                  <a:lnTo>
                    <a:pt x="6962140" y="1280160"/>
                  </a:lnTo>
                  <a:lnTo>
                    <a:pt x="6962140" y="1292860"/>
                  </a:lnTo>
                  <a:lnTo>
                    <a:pt x="6949440" y="129286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663440" y="8023860"/>
            <a:ext cx="5212080" cy="960120"/>
            <a:chOff x="0" y="0"/>
            <a:chExt cx="6949440" cy="12801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9494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9494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Gateway  ·  REST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688955" y="2322195"/>
            <a:ext cx="7014210" cy="6877050"/>
            <a:chOff x="0" y="0"/>
            <a:chExt cx="9352280" cy="9169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2700" y="12700"/>
              <a:ext cx="93268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35228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352280">
                  <a:moveTo>
                    <a:pt x="12700" y="0"/>
                  </a:moveTo>
                  <a:lnTo>
                    <a:pt x="9339580" y="0"/>
                  </a:lnTo>
                  <a:cubicBezTo>
                    <a:pt x="9346565" y="0"/>
                    <a:pt x="9352280" y="5715"/>
                    <a:pt x="9352280" y="12700"/>
                  </a:cubicBezTo>
                  <a:lnTo>
                    <a:pt x="9352280" y="9156700"/>
                  </a:lnTo>
                  <a:cubicBezTo>
                    <a:pt x="9352280" y="9163685"/>
                    <a:pt x="9346565" y="9169400"/>
                    <a:pt x="9339580" y="9169400"/>
                  </a:cubicBezTo>
                  <a:lnTo>
                    <a:pt x="12700" y="9169400"/>
                  </a:lnTo>
                  <a:cubicBezTo>
                    <a:pt x="5715" y="9169400"/>
                    <a:pt x="0" y="9163685"/>
                    <a:pt x="0" y="9156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156700"/>
                  </a:lnTo>
                  <a:lnTo>
                    <a:pt x="12700" y="9156700"/>
                  </a:lnTo>
                  <a:lnTo>
                    <a:pt x="12700" y="9144000"/>
                  </a:lnTo>
                  <a:lnTo>
                    <a:pt x="9339580" y="9144000"/>
                  </a:lnTo>
                  <a:lnTo>
                    <a:pt x="9339580" y="9156700"/>
                  </a:lnTo>
                  <a:lnTo>
                    <a:pt x="9326880" y="9156700"/>
                  </a:lnTo>
                  <a:lnTo>
                    <a:pt x="9326880" y="12700"/>
                  </a:lnTo>
                  <a:lnTo>
                    <a:pt x="9339580" y="12700"/>
                  </a:lnTo>
                  <a:lnTo>
                    <a:pt x="9339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698480" y="2537460"/>
            <a:ext cx="6995160" cy="411480"/>
            <a:chOff x="0" y="0"/>
            <a:chExt cx="932688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326880" cy="548640"/>
            </a:xfrm>
            <a:custGeom>
              <a:avLst/>
              <a:gdLst/>
              <a:ahLst/>
              <a:cxnLst/>
              <a:rect r="r" b="b" t="t" l="l"/>
              <a:pathLst>
                <a:path h="54864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93268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45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USER-FACING LAYER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963275" y="3145155"/>
            <a:ext cx="6465570" cy="1184910"/>
            <a:chOff x="0" y="0"/>
            <a:chExt cx="8620760" cy="15798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8595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620760" cy="1579880"/>
            </a:xfrm>
            <a:custGeom>
              <a:avLst/>
              <a:gdLst/>
              <a:ahLst/>
              <a:cxnLst/>
              <a:rect r="r" b="b" t="t" l="l"/>
              <a:pathLst>
                <a:path h="1579880" w="8620760">
                  <a:moveTo>
                    <a:pt x="12700" y="0"/>
                  </a:moveTo>
                  <a:lnTo>
                    <a:pt x="8608060" y="0"/>
                  </a:lnTo>
                  <a:cubicBezTo>
                    <a:pt x="8615045" y="0"/>
                    <a:pt x="8620760" y="5715"/>
                    <a:pt x="8620760" y="12700"/>
                  </a:cubicBezTo>
                  <a:lnTo>
                    <a:pt x="8620760" y="1567180"/>
                  </a:lnTo>
                  <a:cubicBezTo>
                    <a:pt x="8620760" y="1574165"/>
                    <a:pt x="8615045" y="1579880"/>
                    <a:pt x="8608060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8608060" y="1554480"/>
                  </a:lnTo>
                  <a:lnTo>
                    <a:pt x="8608060" y="1567180"/>
                  </a:lnTo>
                  <a:lnTo>
                    <a:pt x="8595360" y="1567180"/>
                  </a:lnTo>
                  <a:lnTo>
                    <a:pt x="8595360" y="12700"/>
                  </a:lnTo>
                  <a:lnTo>
                    <a:pt x="8608060" y="12700"/>
                  </a:lnTo>
                  <a:lnTo>
                    <a:pt x="86080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972800" y="3223260"/>
            <a:ext cx="6446520" cy="480060"/>
            <a:chOff x="0" y="0"/>
            <a:chExt cx="8595360" cy="6400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595360" cy="640080"/>
            </a:xfrm>
            <a:custGeom>
              <a:avLst/>
              <a:gdLst/>
              <a:ahLst/>
              <a:cxnLst/>
              <a:rect r="r" b="b" t="t" l="l"/>
              <a:pathLst>
                <a:path h="6400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6" r="0" b="-21165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859536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Amazon Cognito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972800" y="3703320"/>
            <a:ext cx="6446520" cy="480060"/>
            <a:chOff x="0" y="0"/>
            <a:chExt cx="8595360" cy="6400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595360" cy="640080"/>
            </a:xfrm>
            <a:custGeom>
              <a:avLst/>
              <a:gdLst/>
              <a:ahLst/>
              <a:cxnLst/>
              <a:rect r="r" b="b" t="t" l="l"/>
              <a:pathLst>
                <a:path h="6400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6" r="0" b="-21165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85953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Signup · Login · Forgot Password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963275" y="4516755"/>
            <a:ext cx="6465570" cy="1939290"/>
            <a:chOff x="0" y="0"/>
            <a:chExt cx="8620760" cy="25857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2700" y="12700"/>
              <a:ext cx="85953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620760" cy="2585720"/>
            </a:xfrm>
            <a:custGeom>
              <a:avLst/>
              <a:gdLst/>
              <a:ahLst/>
              <a:cxnLst/>
              <a:rect r="r" b="b" t="t" l="l"/>
              <a:pathLst>
                <a:path h="2585720" w="8620760">
                  <a:moveTo>
                    <a:pt x="12700" y="0"/>
                  </a:moveTo>
                  <a:lnTo>
                    <a:pt x="8608060" y="0"/>
                  </a:lnTo>
                  <a:cubicBezTo>
                    <a:pt x="8615045" y="0"/>
                    <a:pt x="8620760" y="5715"/>
                    <a:pt x="8620760" y="12700"/>
                  </a:cubicBezTo>
                  <a:lnTo>
                    <a:pt x="8620760" y="2573020"/>
                  </a:lnTo>
                  <a:cubicBezTo>
                    <a:pt x="8620760" y="2580005"/>
                    <a:pt x="8615045" y="2585720"/>
                    <a:pt x="8608060" y="2585720"/>
                  </a:cubicBezTo>
                  <a:lnTo>
                    <a:pt x="12700" y="2585720"/>
                  </a:lnTo>
                  <a:cubicBezTo>
                    <a:pt x="5715" y="2585720"/>
                    <a:pt x="0" y="2580005"/>
                    <a:pt x="0" y="25730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573020"/>
                  </a:lnTo>
                  <a:lnTo>
                    <a:pt x="12700" y="2573020"/>
                  </a:lnTo>
                  <a:lnTo>
                    <a:pt x="12700" y="2560320"/>
                  </a:lnTo>
                  <a:lnTo>
                    <a:pt x="8608060" y="2560320"/>
                  </a:lnTo>
                  <a:lnTo>
                    <a:pt x="8608060" y="2573020"/>
                  </a:lnTo>
                  <a:lnTo>
                    <a:pt x="8595360" y="2573020"/>
                  </a:lnTo>
                  <a:lnTo>
                    <a:pt x="8595360" y="12700"/>
                  </a:lnTo>
                  <a:lnTo>
                    <a:pt x="8608060" y="12700"/>
                  </a:lnTo>
                  <a:lnTo>
                    <a:pt x="86080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972800" y="4663440"/>
            <a:ext cx="6446520" cy="548640"/>
            <a:chOff x="0" y="0"/>
            <a:chExt cx="8595360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59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8595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Dashboard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972800" y="5280660"/>
            <a:ext cx="6446520" cy="1165860"/>
            <a:chOff x="0" y="0"/>
            <a:chExt cx="8595360" cy="15544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595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40" r="0" b="-5774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859536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stat cards · 4 chart types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forecast table · Alerts panel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Per-store demand insights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963275" y="6642735"/>
            <a:ext cx="6465570" cy="1184910"/>
            <a:chOff x="0" y="0"/>
            <a:chExt cx="8620760" cy="15798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2700" y="12700"/>
              <a:ext cx="8595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EC4899">
                <a:alpha val="8627"/>
              </a:srgbClr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620760" cy="1579880"/>
            </a:xfrm>
            <a:custGeom>
              <a:avLst/>
              <a:gdLst/>
              <a:ahLst/>
              <a:cxnLst/>
              <a:rect r="r" b="b" t="t" l="l"/>
              <a:pathLst>
                <a:path h="1579880" w="8620760">
                  <a:moveTo>
                    <a:pt x="12700" y="0"/>
                  </a:moveTo>
                  <a:lnTo>
                    <a:pt x="8608060" y="0"/>
                  </a:lnTo>
                  <a:cubicBezTo>
                    <a:pt x="8615045" y="0"/>
                    <a:pt x="8620760" y="5715"/>
                    <a:pt x="8620760" y="12700"/>
                  </a:cubicBezTo>
                  <a:lnTo>
                    <a:pt x="8620760" y="1567180"/>
                  </a:lnTo>
                  <a:cubicBezTo>
                    <a:pt x="8620760" y="1574165"/>
                    <a:pt x="8615045" y="1579880"/>
                    <a:pt x="8608060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8608060" y="1554480"/>
                  </a:lnTo>
                  <a:lnTo>
                    <a:pt x="8608060" y="1567180"/>
                  </a:lnTo>
                  <a:lnTo>
                    <a:pt x="8595360" y="1567180"/>
                  </a:lnTo>
                  <a:lnTo>
                    <a:pt x="8595360" y="12700"/>
                  </a:lnTo>
                  <a:lnTo>
                    <a:pt x="8608060" y="12700"/>
                  </a:lnTo>
                  <a:lnTo>
                    <a:pt x="86080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0972800" y="6652260"/>
            <a:ext cx="6446520" cy="1165860"/>
            <a:chOff x="0" y="0"/>
            <a:chExt cx="8595360" cy="15544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595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40" r="0" b="-5774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85953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Stockout Alerts (Email)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972800" y="8023860"/>
            <a:ext cx="6446520" cy="960120"/>
            <a:chOff x="0" y="0"/>
            <a:chExt cx="8595360" cy="12801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972800" y="8023860"/>
            <a:ext cx="6446520" cy="960120"/>
            <a:chOff x="0" y="0"/>
            <a:chExt cx="8595360" cy="12801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85953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Store Managers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3890010" y="5741670"/>
            <a:ext cx="518160" cy="38100"/>
            <a:chOff x="0" y="0"/>
            <a:chExt cx="690880" cy="508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25400" y="0"/>
              <a:ext cx="640080" cy="50800"/>
            </a:xfrm>
            <a:custGeom>
              <a:avLst/>
              <a:gdLst/>
              <a:ahLst/>
              <a:cxnLst/>
              <a:rect r="r" b="b" t="t" l="l"/>
              <a:pathLst>
                <a:path h="508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130790" y="5741670"/>
            <a:ext cx="586740" cy="38100"/>
            <a:chOff x="0" y="0"/>
            <a:chExt cx="782320" cy="508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VPC Network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Custom 10.0.0.0/16 VPC spanning two Availability Zones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0120" y="2331720"/>
            <a:ext cx="16459200" cy="480060"/>
            <a:chOff x="0" y="0"/>
            <a:chExt cx="2194560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8058" r="0" b="-6180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945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VPC  10.0.0.0/16  ·  Region: ap-south-1 (Mumbai)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3007995"/>
            <a:ext cx="8042910" cy="5848350"/>
            <a:chOff x="0" y="0"/>
            <a:chExt cx="10723880" cy="7797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10698480" cy="7772400"/>
            </a:xfrm>
            <a:custGeom>
              <a:avLst/>
              <a:gdLst/>
              <a:ahLst/>
              <a:cxnLst/>
              <a:rect r="r" b="b" t="t" l="l"/>
              <a:pathLst>
                <a:path h="777240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7772400"/>
                  </a:lnTo>
                  <a:lnTo>
                    <a:pt x="0" y="77724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23880" cy="7797800"/>
            </a:xfrm>
            <a:custGeom>
              <a:avLst/>
              <a:gdLst/>
              <a:ahLst/>
              <a:cxnLst/>
              <a:rect r="r" b="b" t="t" l="l"/>
              <a:pathLst>
                <a:path h="7797800" w="10723880">
                  <a:moveTo>
                    <a:pt x="12700" y="0"/>
                  </a:moveTo>
                  <a:lnTo>
                    <a:pt x="10711180" y="0"/>
                  </a:lnTo>
                  <a:cubicBezTo>
                    <a:pt x="10718165" y="0"/>
                    <a:pt x="10723880" y="5715"/>
                    <a:pt x="10723880" y="12700"/>
                  </a:cubicBezTo>
                  <a:lnTo>
                    <a:pt x="10723880" y="7785100"/>
                  </a:lnTo>
                  <a:cubicBezTo>
                    <a:pt x="10723880" y="7792085"/>
                    <a:pt x="10718165" y="7797800"/>
                    <a:pt x="10711180" y="7797800"/>
                  </a:cubicBezTo>
                  <a:lnTo>
                    <a:pt x="12700" y="7797800"/>
                  </a:lnTo>
                  <a:cubicBezTo>
                    <a:pt x="5715" y="7797800"/>
                    <a:pt x="0" y="7792085"/>
                    <a:pt x="0" y="7785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785100"/>
                  </a:lnTo>
                  <a:lnTo>
                    <a:pt x="12700" y="7785100"/>
                  </a:lnTo>
                  <a:lnTo>
                    <a:pt x="12700" y="7772400"/>
                  </a:lnTo>
                  <a:lnTo>
                    <a:pt x="10711180" y="7772400"/>
                  </a:lnTo>
                  <a:lnTo>
                    <a:pt x="10711180" y="7785100"/>
                  </a:lnTo>
                  <a:lnTo>
                    <a:pt x="10698480" y="7785100"/>
                  </a:lnTo>
                  <a:lnTo>
                    <a:pt x="10698480" y="12700"/>
                  </a:lnTo>
                  <a:lnTo>
                    <a:pt x="10711180" y="12700"/>
                  </a:lnTo>
                  <a:lnTo>
                    <a:pt x="10711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3154680"/>
            <a:ext cx="7543800" cy="411480"/>
            <a:chOff x="0" y="0"/>
            <a:chExt cx="10058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058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Availability Zone  ·  ap-south-1a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2075" y="3693795"/>
            <a:ext cx="7631430" cy="1596390"/>
            <a:chOff x="0" y="0"/>
            <a:chExt cx="10175240" cy="2128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10149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5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175240">
                  <a:moveTo>
                    <a:pt x="12700" y="0"/>
                  </a:moveTo>
                  <a:lnTo>
                    <a:pt x="10162540" y="0"/>
                  </a:lnTo>
                  <a:cubicBezTo>
                    <a:pt x="10169525" y="0"/>
                    <a:pt x="10175240" y="5715"/>
                    <a:pt x="10175240" y="12700"/>
                  </a:cubicBezTo>
                  <a:lnTo>
                    <a:pt x="10175240" y="2115820"/>
                  </a:lnTo>
                  <a:cubicBezTo>
                    <a:pt x="10175240" y="2122805"/>
                    <a:pt x="10169525" y="2128520"/>
                    <a:pt x="10162540" y="2128520"/>
                  </a:cubicBezTo>
                  <a:lnTo>
                    <a:pt x="12700" y="2128520"/>
                  </a:lnTo>
                  <a:cubicBezTo>
                    <a:pt x="5715" y="2128520"/>
                    <a:pt x="0" y="2122805"/>
                    <a:pt x="0" y="2115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820"/>
                  </a:lnTo>
                  <a:lnTo>
                    <a:pt x="12700" y="2115820"/>
                  </a:lnTo>
                  <a:lnTo>
                    <a:pt x="12700" y="2103120"/>
                  </a:lnTo>
                  <a:lnTo>
                    <a:pt x="10162540" y="2103120"/>
                  </a:lnTo>
                  <a:lnTo>
                    <a:pt x="10162540" y="2115820"/>
                  </a:lnTo>
                  <a:lnTo>
                    <a:pt x="10149840" y="2115820"/>
                  </a:lnTo>
                  <a:lnTo>
                    <a:pt x="10149840" y="12700"/>
                  </a:lnTo>
                  <a:lnTo>
                    <a:pt x="10162540" y="12700"/>
                  </a:lnTo>
                  <a:lnTo>
                    <a:pt x="101625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77340" y="3813048"/>
            <a:ext cx="7406640" cy="384048"/>
            <a:chOff x="0" y="0"/>
            <a:chExt cx="987552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75520" cy="512064"/>
            </a:xfrm>
            <a:custGeom>
              <a:avLst/>
              <a:gdLst/>
              <a:ahLst/>
              <a:cxnLst/>
              <a:rect r="r" b="b" t="t" l="l"/>
              <a:pathLst>
                <a:path h="51206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9875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 SUBNET  ·  10.0.1.0/24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77340" y="4224528"/>
            <a:ext cx="7406640" cy="480060"/>
            <a:chOff x="0" y="0"/>
            <a:chExt cx="98755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8755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 Gateway  ·  Internet Gateway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77340" y="4732020"/>
            <a:ext cx="7406640" cy="438912"/>
            <a:chOff x="0" y="0"/>
            <a:chExt cx="987552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875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Outbound internet for private subnets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62075" y="5408295"/>
            <a:ext cx="7631430" cy="1596390"/>
            <a:chOff x="0" y="0"/>
            <a:chExt cx="10175240" cy="2128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10149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75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175240">
                  <a:moveTo>
                    <a:pt x="12700" y="0"/>
                  </a:moveTo>
                  <a:lnTo>
                    <a:pt x="10162540" y="0"/>
                  </a:lnTo>
                  <a:cubicBezTo>
                    <a:pt x="10169525" y="0"/>
                    <a:pt x="10175240" y="5715"/>
                    <a:pt x="10175240" y="12700"/>
                  </a:cubicBezTo>
                  <a:lnTo>
                    <a:pt x="10175240" y="2115820"/>
                  </a:lnTo>
                  <a:cubicBezTo>
                    <a:pt x="10175240" y="2122805"/>
                    <a:pt x="10169525" y="2128520"/>
                    <a:pt x="10162540" y="2128520"/>
                  </a:cubicBezTo>
                  <a:lnTo>
                    <a:pt x="12700" y="2128520"/>
                  </a:lnTo>
                  <a:cubicBezTo>
                    <a:pt x="5715" y="2128520"/>
                    <a:pt x="0" y="2122805"/>
                    <a:pt x="0" y="2115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820"/>
                  </a:lnTo>
                  <a:lnTo>
                    <a:pt x="12700" y="2115820"/>
                  </a:lnTo>
                  <a:lnTo>
                    <a:pt x="12700" y="2103120"/>
                  </a:lnTo>
                  <a:lnTo>
                    <a:pt x="10162540" y="2103120"/>
                  </a:lnTo>
                  <a:lnTo>
                    <a:pt x="10162540" y="2115820"/>
                  </a:lnTo>
                  <a:lnTo>
                    <a:pt x="10149840" y="2115820"/>
                  </a:lnTo>
                  <a:lnTo>
                    <a:pt x="10149840" y="12700"/>
                  </a:lnTo>
                  <a:lnTo>
                    <a:pt x="10162540" y="12700"/>
                  </a:lnTo>
                  <a:lnTo>
                    <a:pt x="101625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77340" y="5527548"/>
            <a:ext cx="7406640" cy="384048"/>
            <a:chOff x="0" y="0"/>
            <a:chExt cx="9875520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75520" cy="512064"/>
            </a:xfrm>
            <a:custGeom>
              <a:avLst/>
              <a:gdLst/>
              <a:ahLst/>
              <a:cxnLst/>
              <a:rect r="r" b="b" t="t" l="l"/>
              <a:pathLst>
                <a:path h="51206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875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PRIVATE APP SUBNET  ·  10.0.11.0/24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77340" y="5939028"/>
            <a:ext cx="7406640" cy="480060"/>
            <a:chOff x="0" y="0"/>
            <a:chExt cx="987552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8755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Lambda Functions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77340" y="6446520"/>
            <a:ext cx="7406640" cy="438912"/>
            <a:chOff x="0" y="0"/>
            <a:chExt cx="9875520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875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compute · 7 functions · No internet exposure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62075" y="7122795"/>
            <a:ext cx="7631430" cy="1596390"/>
            <a:chOff x="0" y="0"/>
            <a:chExt cx="10175240" cy="2128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10149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14B8A6">
                <a:alpha val="3922"/>
              </a:srgbClr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175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175240">
                  <a:moveTo>
                    <a:pt x="12700" y="0"/>
                  </a:moveTo>
                  <a:lnTo>
                    <a:pt x="10162540" y="0"/>
                  </a:lnTo>
                  <a:cubicBezTo>
                    <a:pt x="10169525" y="0"/>
                    <a:pt x="10175240" y="5715"/>
                    <a:pt x="10175240" y="12700"/>
                  </a:cubicBezTo>
                  <a:lnTo>
                    <a:pt x="10175240" y="2115820"/>
                  </a:lnTo>
                  <a:cubicBezTo>
                    <a:pt x="10175240" y="2122805"/>
                    <a:pt x="10169525" y="2128520"/>
                    <a:pt x="10162540" y="2128520"/>
                  </a:cubicBezTo>
                  <a:lnTo>
                    <a:pt x="12700" y="2128520"/>
                  </a:lnTo>
                  <a:cubicBezTo>
                    <a:pt x="5715" y="2128520"/>
                    <a:pt x="0" y="2122805"/>
                    <a:pt x="0" y="2115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820"/>
                  </a:lnTo>
                  <a:lnTo>
                    <a:pt x="12700" y="2115820"/>
                  </a:lnTo>
                  <a:lnTo>
                    <a:pt x="12700" y="2103120"/>
                  </a:lnTo>
                  <a:lnTo>
                    <a:pt x="10162540" y="2103120"/>
                  </a:lnTo>
                  <a:lnTo>
                    <a:pt x="10162540" y="2115820"/>
                  </a:lnTo>
                  <a:lnTo>
                    <a:pt x="10149840" y="2115820"/>
                  </a:lnTo>
                  <a:lnTo>
                    <a:pt x="10149840" y="12700"/>
                  </a:lnTo>
                  <a:lnTo>
                    <a:pt x="10162540" y="12700"/>
                  </a:lnTo>
                  <a:lnTo>
                    <a:pt x="101625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7340" y="7242048"/>
            <a:ext cx="7406640" cy="384048"/>
            <a:chOff x="0" y="0"/>
            <a:chExt cx="9875520" cy="512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875520" cy="512064"/>
            </a:xfrm>
            <a:custGeom>
              <a:avLst/>
              <a:gdLst/>
              <a:ahLst/>
              <a:cxnLst/>
              <a:rect r="r" b="b" t="t" l="l"/>
              <a:pathLst>
                <a:path h="51206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9875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PRIVATE DATA SUBNET  ·  10.0.21.0/24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77340" y="7653528"/>
            <a:ext cx="7406640" cy="480060"/>
            <a:chOff x="0" y="0"/>
            <a:chExt cx="987552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8755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DynamoDB · S3 (via VPC Endpoint)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77340" y="8161020"/>
            <a:ext cx="7406640" cy="438912"/>
            <a:chOff x="0" y="0"/>
            <a:chExt cx="9875520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875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persistent storage · Encrypted at rest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23095" y="3007995"/>
            <a:ext cx="8042910" cy="5848350"/>
            <a:chOff x="0" y="0"/>
            <a:chExt cx="10723880" cy="7797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10698480" cy="7772400"/>
            </a:xfrm>
            <a:custGeom>
              <a:avLst/>
              <a:gdLst/>
              <a:ahLst/>
              <a:cxnLst/>
              <a:rect r="r" b="b" t="t" l="l"/>
              <a:pathLst>
                <a:path h="777240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7772400"/>
                  </a:lnTo>
                  <a:lnTo>
                    <a:pt x="0" y="77724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723880" cy="7797800"/>
            </a:xfrm>
            <a:custGeom>
              <a:avLst/>
              <a:gdLst/>
              <a:ahLst/>
              <a:cxnLst/>
              <a:rect r="r" b="b" t="t" l="l"/>
              <a:pathLst>
                <a:path h="7797800" w="10723880">
                  <a:moveTo>
                    <a:pt x="12700" y="0"/>
                  </a:moveTo>
                  <a:lnTo>
                    <a:pt x="10711180" y="0"/>
                  </a:lnTo>
                  <a:cubicBezTo>
                    <a:pt x="10718165" y="0"/>
                    <a:pt x="10723880" y="5715"/>
                    <a:pt x="10723880" y="12700"/>
                  </a:cubicBezTo>
                  <a:lnTo>
                    <a:pt x="10723880" y="7785100"/>
                  </a:lnTo>
                  <a:cubicBezTo>
                    <a:pt x="10723880" y="7792085"/>
                    <a:pt x="10718165" y="7797800"/>
                    <a:pt x="10711180" y="7797800"/>
                  </a:cubicBezTo>
                  <a:lnTo>
                    <a:pt x="12700" y="7797800"/>
                  </a:lnTo>
                  <a:cubicBezTo>
                    <a:pt x="5715" y="7797800"/>
                    <a:pt x="0" y="7792085"/>
                    <a:pt x="0" y="7785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785100"/>
                  </a:lnTo>
                  <a:lnTo>
                    <a:pt x="12700" y="7785100"/>
                  </a:lnTo>
                  <a:lnTo>
                    <a:pt x="12700" y="7772400"/>
                  </a:lnTo>
                  <a:lnTo>
                    <a:pt x="10711180" y="7772400"/>
                  </a:lnTo>
                  <a:lnTo>
                    <a:pt x="10711180" y="7785100"/>
                  </a:lnTo>
                  <a:lnTo>
                    <a:pt x="10698480" y="7785100"/>
                  </a:lnTo>
                  <a:lnTo>
                    <a:pt x="10698480" y="12700"/>
                  </a:lnTo>
                  <a:lnTo>
                    <a:pt x="10711180" y="12700"/>
                  </a:lnTo>
                  <a:lnTo>
                    <a:pt x="10711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669780" y="3154680"/>
            <a:ext cx="7543800" cy="411480"/>
            <a:chOff x="0" y="0"/>
            <a:chExt cx="100584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058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Availability Zone  ·  ap-south-1b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97415" y="3693795"/>
            <a:ext cx="7631430" cy="1596390"/>
            <a:chOff x="0" y="0"/>
            <a:chExt cx="10175240" cy="2128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2700" y="12700"/>
              <a:ext cx="10149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175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175240">
                  <a:moveTo>
                    <a:pt x="12700" y="0"/>
                  </a:moveTo>
                  <a:lnTo>
                    <a:pt x="10162540" y="0"/>
                  </a:lnTo>
                  <a:cubicBezTo>
                    <a:pt x="10169525" y="0"/>
                    <a:pt x="10175240" y="5715"/>
                    <a:pt x="10175240" y="12700"/>
                  </a:cubicBezTo>
                  <a:lnTo>
                    <a:pt x="10175240" y="2115820"/>
                  </a:lnTo>
                  <a:cubicBezTo>
                    <a:pt x="10175240" y="2122805"/>
                    <a:pt x="10169525" y="2128520"/>
                    <a:pt x="10162540" y="2128520"/>
                  </a:cubicBezTo>
                  <a:lnTo>
                    <a:pt x="12700" y="2128520"/>
                  </a:lnTo>
                  <a:cubicBezTo>
                    <a:pt x="5715" y="2128520"/>
                    <a:pt x="0" y="2122805"/>
                    <a:pt x="0" y="2115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820"/>
                  </a:lnTo>
                  <a:lnTo>
                    <a:pt x="12700" y="2115820"/>
                  </a:lnTo>
                  <a:lnTo>
                    <a:pt x="12700" y="2103120"/>
                  </a:lnTo>
                  <a:lnTo>
                    <a:pt x="10162540" y="2103120"/>
                  </a:lnTo>
                  <a:lnTo>
                    <a:pt x="10162540" y="2115820"/>
                  </a:lnTo>
                  <a:lnTo>
                    <a:pt x="10149840" y="2115820"/>
                  </a:lnTo>
                  <a:lnTo>
                    <a:pt x="10149840" y="12700"/>
                  </a:lnTo>
                  <a:lnTo>
                    <a:pt x="10162540" y="12700"/>
                  </a:lnTo>
                  <a:lnTo>
                    <a:pt x="101625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012680" y="3813048"/>
            <a:ext cx="7406640" cy="384048"/>
            <a:chOff x="0" y="0"/>
            <a:chExt cx="9875520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875520" cy="512064"/>
            </a:xfrm>
            <a:custGeom>
              <a:avLst/>
              <a:gdLst/>
              <a:ahLst/>
              <a:cxnLst/>
              <a:rect r="r" b="b" t="t" l="l"/>
              <a:pathLst>
                <a:path h="51206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9875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 SUBNET  ·  10.0.2.0/24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012680" y="4224528"/>
            <a:ext cx="7406640" cy="480060"/>
            <a:chOff x="0" y="0"/>
            <a:chExt cx="987552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8755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 Gateway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012680" y="4732020"/>
            <a:ext cx="7406640" cy="438912"/>
            <a:chOff x="0" y="0"/>
            <a:chExt cx="9875520" cy="5852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875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Outbound internet for private subnets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797415" y="5408295"/>
            <a:ext cx="7631430" cy="1596390"/>
            <a:chOff x="0" y="0"/>
            <a:chExt cx="10175240" cy="2128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2700" y="12700"/>
              <a:ext cx="10149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175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175240">
                  <a:moveTo>
                    <a:pt x="12700" y="0"/>
                  </a:moveTo>
                  <a:lnTo>
                    <a:pt x="10162540" y="0"/>
                  </a:lnTo>
                  <a:cubicBezTo>
                    <a:pt x="10169525" y="0"/>
                    <a:pt x="10175240" y="5715"/>
                    <a:pt x="10175240" y="12700"/>
                  </a:cubicBezTo>
                  <a:lnTo>
                    <a:pt x="10175240" y="2115820"/>
                  </a:lnTo>
                  <a:cubicBezTo>
                    <a:pt x="10175240" y="2122805"/>
                    <a:pt x="10169525" y="2128520"/>
                    <a:pt x="10162540" y="2128520"/>
                  </a:cubicBezTo>
                  <a:lnTo>
                    <a:pt x="12700" y="2128520"/>
                  </a:lnTo>
                  <a:cubicBezTo>
                    <a:pt x="5715" y="2128520"/>
                    <a:pt x="0" y="2122805"/>
                    <a:pt x="0" y="2115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820"/>
                  </a:lnTo>
                  <a:lnTo>
                    <a:pt x="12700" y="2115820"/>
                  </a:lnTo>
                  <a:lnTo>
                    <a:pt x="12700" y="2103120"/>
                  </a:lnTo>
                  <a:lnTo>
                    <a:pt x="10162540" y="2103120"/>
                  </a:lnTo>
                  <a:lnTo>
                    <a:pt x="10162540" y="2115820"/>
                  </a:lnTo>
                  <a:lnTo>
                    <a:pt x="10149840" y="2115820"/>
                  </a:lnTo>
                  <a:lnTo>
                    <a:pt x="10149840" y="12700"/>
                  </a:lnTo>
                  <a:lnTo>
                    <a:pt x="10162540" y="12700"/>
                  </a:lnTo>
                  <a:lnTo>
                    <a:pt x="101625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012680" y="5527548"/>
            <a:ext cx="7406640" cy="384048"/>
            <a:chOff x="0" y="0"/>
            <a:chExt cx="9875520" cy="5120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875520" cy="512064"/>
            </a:xfrm>
            <a:custGeom>
              <a:avLst/>
              <a:gdLst/>
              <a:ahLst/>
              <a:cxnLst/>
              <a:rect r="r" b="b" t="t" l="l"/>
              <a:pathLst>
                <a:path h="51206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9875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PRIVATE APP SUBNET  ·  10.0.12.0/24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012680" y="5939028"/>
            <a:ext cx="7406640" cy="480060"/>
            <a:chOff x="0" y="0"/>
            <a:chExt cx="9875520" cy="640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8755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Lambda Functions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012680" y="6446520"/>
            <a:ext cx="7406640" cy="438912"/>
            <a:chOff x="0" y="0"/>
            <a:chExt cx="9875520" cy="58521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9875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compute · 7 functions · No internet exposure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797415" y="7122795"/>
            <a:ext cx="7631430" cy="1596390"/>
            <a:chOff x="0" y="0"/>
            <a:chExt cx="10175240" cy="2128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10149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14B8A6">
                <a:alpha val="3922"/>
              </a:srgbClr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175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175240">
                  <a:moveTo>
                    <a:pt x="12700" y="0"/>
                  </a:moveTo>
                  <a:lnTo>
                    <a:pt x="10162540" y="0"/>
                  </a:lnTo>
                  <a:cubicBezTo>
                    <a:pt x="10169525" y="0"/>
                    <a:pt x="10175240" y="5715"/>
                    <a:pt x="10175240" y="12700"/>
                  </a:cubicBezTo>
                  <a:lnTo>
                    <a:pt x="10175240" y="2115820"/>
                  </a:lnTo>
                  <a:cubicBezTo>
                    <a:pt x="10175240" y="2122805"/>
                    <a:pt x="10169525" y="2128520"/>
                    <a:pt x="10162540" y="2128520"/>
                  </a:cubicBezTo>
                  <a:lnTo>
                    <a:pt x="12700" y="2128520"/>
                  </a:lnTo>
                  <a:cubicBezTo>
                    <a:pt x="5715" y="2128520"/>
                    <a:pt x="0" y="2122805"/>
                    <a:pt x="0" y="2115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820"/>
                  </a:lnTo>
                  <a:lnTo>
                    <a:pt x="12700" y="2115820"/>
                  </a:lnTo>
                  <a:lnTo>
                    <a:pt x="12700" y="2103120"/>
                  </a:lnTo>
                  <a:lnTo>
                    <a:pt x="10162540" y="2103120"/>
                  </a:lnTo>
                  <a:lnTo>
                    <a:pt x="10162540" y="2115820"/>
                  </a:lnTo>
                  <a:lnTo>
                    <a:pt x="10149840" y="2115820"/>
                  </a:lnTo>
                  <a:lnTo>
                    <a:pt x="10149840" y="12700"/>
                  </a:lnTo>
                  <a:lnTo>
                    <a:pt x="10162540" y="12700"/>
                  </a:lnTo>
                  <a:lnTo>
                    <a:pt x="101625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012680" y="7242048"/>
            <a:ext cx="7406640" cy="384048"/>
            <a:chOff x="0" y="0"/>
            <a:chExt cx="9875520" cy="51206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875520" cy="512064"/>
            </a:xfrm>
            <a:custGeom>
              <a:avLst/>
              <a:gdLst/>
              <a:ahLst/>
              <a:cxnLst/>
              <a:rect r="r" b="b" t="t" l="l"/>
              <a:pathLst>
                <a:path h="51206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9875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PRIVATE DATA SUBNET  ·  10.0.22.0/24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012680" y="7653528"/>
            <a:ext cx="7406640" cy="480060"/>
            <a:chOff x="0" y="0"/>
            <a:chExt cx="9875520" cy="6400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98755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DynamoDB · S3 (via VPC Endpoint)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012680" y="8161020"/>
            <a:ext cx="7406640" cy="438912"/>
            <a:chOff x="0" y="0"/>
            <a:chExt cx="9875520" cy="58521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9875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persistent storage · Encrypted at rest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685800" y="9258300"/>
            <a:ext cx="16870680" cy="411480"/>
            <a:chOff x="0" y="0"/>
            <a:chExt cx="2249424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494239" cy="548640"/>
            </a:xfrm>
            <a:custGeom>
              <a:avLst/>
              <a:gdLst/>
              <a:ahLst/>
              <a:cxnLst/>
              <a:rect r="r" b="b" t="t" l="l"/>
              <a:pathLst>
                <a:path h="54864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886" r="0" b="-74888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2494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Security: Least-privilege Security Groups · VPC Flow Logs to CloudWatch · S3 Gateway Endpoint avoids public traffic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AWS Services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14+ services orchestrated in a single platform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6275" y="2185035"/>
            <a:ext cx="5505450" cy="3310890"/>
            <a:chOff x="0" y="0"/>
            <a:chExt cx="7340600" cy="4414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7315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406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4401820"/>
                  </a:lnTo>
                  <a:cubicBezTo>
                    <a:pt x="7340600" y="4408805"/>
                    <a:pt x="7334885" y="4414520"/>
                    <a:pt x="7327900" y="4414520"/>
                  </a:cubicBezTo>
                  <a:lnTo>
                    <a:pt x="12700" y="4414520"/>
                  </a:lnTo>
                  <a:cubicBezTo>
                    <a:pt x="5715" y="4414520"/>
                    <a:pt x="0" y="4408805"/>
                    <a:pt x="0" y="4401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01820"/>
                  </a:lnTo>
                  <a:lnTo>
                    <a:pt x="12700" y="4401820"/>
                  </a:lnTo>
                  <a:lnTo>
                    <a:pt x="12700" y="4389120"/>
                  </a:lnTo>
                  <a:lnTo>
                    <a:pt x="7327900" y="4389120"/>
                  </a:lnTo>
                  <a:lnTo>
                    <a:pt x="7327900" y="4401820"/>
                  </a:lnTo>
                  <a:lnTo>
                    <a:pt x="7315200" y="44018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0" y="2194560"/>
            <a:ext cx="5486400" cy="109728"/>
            <a:chOff x="0" y="0"/>
            <a:chExt cx="7315200" cy="1463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606040"/>
            <a:ext cx="4800600" cy="480060"/>
            <a:chOff x="0" y="0"/>
            <a:chExt cx="640080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27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COMPUTE &amp; API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3360420"/>
            <a:ext cx="4800600" cy="1920240"/>
            <a:chOff x="0" y="0"/>
            <a:chExt cx="6400800" cy="2560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4008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Lambda (7 functions)</a:t>
              </a:r>
            </a:p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Amazon API Gateway (REST)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74155" y="2185035"/>
            <a:ext cx="5505450" cy="3310890"/>
            <a:chOff x="0" y="0"/>
            <a:chExt cx="7340600" cy="4414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7315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406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4401820"/>
                  </a:lnTo>
                  <a:cubicBezTo>
                    <a:pt x="7340600" y="4408805"/>
                    <a:pt x="7334885" y="4414520"/>
                    <a:pt x="7327900" y="4414520"/>
                  </a:cubicBezTo>
                  <a:lnTo>
                    <a:pt x="12700" y="4414520"/>
                  </a:lnTo>
                  <a:cubicBezTo>
                    <a:pt x="5715" y="4414520"/>
                    <a:pt x="0" y="4408805"/>
                    <a:pt x="0" y="4401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01820"/>
                  </a:lnTo>
                  <a:lnTo>
                    <a:pt x="12700" y="4401820"/>
                  </a:lnTo>
                  <a:lnTo>
                    <a:pt x="12700" y="4389120"/>
                  </a:lnTo>
                  <a:lnTo>
                    <a:pt x="7327900" y="4389120"/>
                  </a:lnTo>
                  <a:lnTo>
                    <a:pt x="7327900" y="4401820"/>
                  </a:lnTo>
                  <a:lnTo>
                    <a:pt x="7315200" y="44018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83680" y="2194560"/>
            <a:ext cx="5486400" cy="109728"/>
            <a:chOff x="0" y="0"/>
            <a:chExt cx="7315200" cy="1463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995160" y="2606040"/>
            <a:ext cx="4800600" cy="480060"/>
            <a:chOff x="0" y="0"/>
            <a:chExt cx="640080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27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STORAGE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95160" y="3360420"/>
            <a:ext cx="4800600" cy="1920240"/>
            <a:chOff x="0" y="0"/>
            <a:chExt cx="6400800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008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4008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Amazon DynamoDB (4 tables)</a:t>
              </a:r>
            </a:p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Amazon S3 (5 buckets)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72035" y="2185035"/>
            <a:ext cx="5505450" cy="3310890"/>
            <a:chOff x="0" y="0"/>
            <a:chExt cx="7340600" cy="4414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7315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406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4401820"/>
                  </a:lnTo>
                  <a:cubicBezTo>
                    <a:pt x="7340600" y="4408805"/>
                    <a:pt x="7334885" y="4414520"/>
                    <a:pt x="7327900" y="4414520"/>
                  </a:cubicBezTo>
                  <a:lnTo>
                    <a:pt x="12700" y="4414520"/>
                  </a:lnTo>
                  <a:cubicBezTo>
                    <a:pt x="5715" y="4414520"/>
                    <a:pt x="0" y="4408805"/>
                    <a:pt x="0" y="4401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01820"/>
                  </a:lnTo>
                  <a:lnTo>
                    <a:pt x="12700" y="4401820"/>
                  </a:lnTo>
                  <a:lnTo>
                    <a:pt x="12700" y="4389120"/>
                  </a:lnTo>
                  <a:lnTo>
                    <a:pt x="7327900" y="4389120"/>
                  </a:lnTo>
                  <a:lnTo>
                    <a:pt x="7327900" y="4401820"/>
                  </a:lnTo>
                  <a:lnTo>
                    <a:pt x="7315200" y="44018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481560" y="2194560"/>
            <a:ext cx="5486400" cy="109728"/>
            <a:chOff x="0" y="0"/>
            <a:chExt cx="7315200" cy="1463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93040" y="2606040"/>
            <a:ext cx="4800600" cy="480060"/>
            <a:chOff x="0" y="0"/>
            <a:chExt cx="640080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27">
                  <a:solidFill>
                    <a:srgbClr val="EC48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/ ML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93040" y="3360420"/>
            <a:ext cx="4800600" cy="1920240"/>
            <a:chOff x="0" y="0"/>
            <a:chExt cx="6400800" cy="25603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008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4008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Textract (OCR)</a:t>
              </a:r>
            </a:p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Amazon Comprehend (NLP)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76275" y="5819775"/>
            <a:ext cx="5505450" cy="3310890"/>
            <a:chOff x="0" y="0"/>
            <a:chExt cx="7340600" cy="4414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7315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406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4401820"/>
                  </a:lnTo>
                  <a:cubicBezTo>
                    <a:pt x="7340600" y="4408805"/>
                    <a:pt x="7334885" y="4414520"/>
                    <a:pt x="7327900" y="4414520"/>
                  </a:cubicBezTo>
                  <a:lnTo>
                    <a:pt x="12700" y="4414520"/>
                  </a:lnTo>
                  <a:cubicBezTo>
                    <a:pt x="5715" y="4414520"/>
                    <a:pt x="0" y="4408805"/>
                    <a:pt x="0" y="4401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01820"/>
                  </a:lnTo>
                  <a:lnTo>
                    <a:pt x="12700" y="4401820"/>
                  </a:lnTo>
                  <a:lnTo>
                    <a:pt x="12700" y="4389120"/>
                  </a:lnTo>
                  <a:lnTo>
                    <a:pt x="7327900" y="4389120"/>
                  </a:lnTo>
                  <a:lnTo>
                    <a:pt x="7327900" y="4401820"/>
                  </a:lnTo>
                  <a:lnTo>
                    <a:pt x="7315200" y="44018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85800" y="5829300"/>
            <a:ext cx="5486400" cy="109728"/>
            <a:chOff x="0" y="0"/>
            <a:chExt cx="7315200" cy="1463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6240780"/>
            <a:ext cx="4800600" cy="480060"/>
            <a:chOff x="0" y="0"/>
            <a:chExt cx="640080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27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" y="6995160"/>
            <a:ext cx="4800600" cy="1920240"/>
            <a:chOff x="0" y="0"/>
            <a:chExt cx="6400800" cy="25603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008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4008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Amazon Cognito (User Pool)</a:t>
              </a:r>
            </a:p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IAM (least-privilege)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74155" y="5819775"/>
            <a:ext cx="5505450" cy="3310890"/>
            <a:chOff x="0" y="0"/>
            <a:chExt cx="7340600" cy="4414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2700" y="12700"/>
              <a:ext cx="7315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406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4401820"/>
                  </a:lnTo>
                  <a:cubicBezTo>
                    <a:pt x="7340600" y="4408805"/>
                    <a:pt x="7334885" y="4414520"/>
                    <a:pt x="7327900" y="4414520"/>
                  </a:cubicBezTo>
                  <a:lnTo>
                    <a:pt x="12700" y="4414520"/>
                  </a:lnTo>
                  <a:cubicBezTo>
                    <a:pt x="5715" y="4414520"/>
                    <a:pt x="0" y="4408805"/>
                    <a:pt x="0" y="4401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01820"/>
                  </a:lnTo>
                  <a:lnTo>
                    <a:pt x="12700" y="4401820"/>
                  </a:lnTo>
                  <a:lnTo>
                    <a:pt x="12700" y="4389120"/>
                  </a:lnTo>
                  <a:lnTo>
                    <a:pt x="7327900" y="4389120"/>
                  </a:lnTo>
                  <a:lnTo>
                    <a:pt x="7327900" y="4401820"/>
                  </a:lnTo>
                  <a:lnTo>
                    <a:pt x="7315200" y="44018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583680" y="5829300"/>
            <a:ext cx="5486400" cy="109728"/>
            <a:chOff x="0" y="0"/>
            <a:chExt cx="7315200" cy="1463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995160" y="6240780"/>
            <a:ext cx="4800600" cy="480060"/>
            <a:chOff x="0" y="0"/>
            <a:chExt cx="640080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27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NETWORKING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995160" y="6995160"/>
            <a:ext cx="4800600" cy="1920240"/>
            <a:chOff x="0" y="0"/>
            <a:chExt cx="6400800" cy="2560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008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4008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VPC · Subnets · NAT · IGW</a:t>
              </a:r>
            </a:p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Security Groups · VPC Endpoints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472035" y="5819775"/>
            <a:ext cx="5505450" cy="3310890"/>
            <a:chOff x="0" y="0"/>
            <a:chExt cx="7340600" cy="4414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7315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406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4401820"/>
                  </a:lnTo>
                  <a:cubicBezTo>
                    <a:pt x="7340600" y="4408805"/>
                    <a:pt x="7334885" y="4414520"/>
                    <a:pt x="7327900" y="4414520"/>
                  </a:cubicBezTo>
                  <a:lnTo>
                    <a:pt x="12700" y="4414520"/>
                  </a:lnTo>
                  <a:cubicBezTo>
                    <a:pt x="5715" y="4414520"/>
                    <a:pt x="0" y="4408805"/>
                    <a:pt x="0" y="4401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01820"/>
                  </a:lnTo>
                  <a:lnTo>
                    <a:pt x="12700" y="4401820"/>
                  </a:lnTo>
                  <a:lnTo>
                    <a:pt x="12700" y="4389120"/>
                  </a:lnTo>
                  <a:lnTo>
                    <a:pt x="7327900" y="4389120"/>
                  </a:lnTo>
                  <a:lnTo>
                    <a:pt x="7327900" y="4401820"/>
                  </a:lnTo>
                  <a:lnTo>
                    <a:pt x="7315200" y="440182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481560" y="5829300"/>
            <a:ext cx="5486400" cy="109728"/>
            <a:chOff x="0" y="0"/>
            <a:chExt cx="7315200" cy="14630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893040" y="6240780"/>
            <a:ext cx="4800600" cy="480060"/>
            <a:chOff x="0" y="0"/>
            <a:chExt cx="640080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27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893040" y="6995160"/>
            <a:ext cx="4800600" cy="1920240"/>
            <a:chOff x="0" y="0"/>
            <a:chExt cx="6400800" cy="25603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4008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4008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CloudTrail (audit logs)</a:t>
              </a:r>
            </a:p>
            <a:p>
              <a:pPr algn="l" marL="398145" indent="-199072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Amazon CloudWatch (metrics)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Multi-Format Data Ingestion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Three Lambda functions handle every input format automatically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800" y="2743200"/>
            <a:ext cx="960120" cy="960120"/>
            <a:chOff x="0" y="0"/>
            <a:chExt cx="1280160" cy="128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5800" y="2743200"/>
            <a:ext cx="960120" cy="960120"/>
            <a:chOff x="0" y="0"/>
            <a:chExt cx="1280160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43112" y="2523172"/>
            <a:ext cx="3594735" cy="1400175"/>
            <a:chOff x="0" y="0"/>
            <a:chExt cx="4792980" cy="1866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9050" y="1905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92980" cy="1866900"/>
            </a:xfrm>
            <a:custGeom>
              <a:avLst/>
              <a:gdLst/>
              <a:ahLst/>
              <a:cxnLst/>
              <a:rect r="r" b="b" t="t" l="l"/>
              <a:pathLst>
                <a:path h="1866900" w="4792980">
                  <a:moveTo>
                    <a:pt x="19050" y="0"/>
                  </a:moveTo>
                  <a:lnTo>
                    <a:pt x="4773930" y="0"/>
                  </a:lnTo>
                  <a:cubicBezTo>
                    <a:pt x="4784471" y="0"/>
                    <a:pt x="4792980" y="8509"/>
                    <a:pt x="4792980" y="19050"/>
                  </a:cubicBezTo>
                  <a:lnTo>
                    <a:pt x="4792980" y="1847850"/>
                  </a:lnTo>
                  <a:cubicBezTo>
                    <a:pt x="4792980" y="1858391"/>
                    <a:pt x="4784471" y="1866900"/>
                    <a:pt x="4773930" y="1866900"/>
                  </a:cubicBezTo>
                  <a:lnTo>
                    <a:pt x="19050" y="1866900"/>
                  </a:lnTo>
                  <a:cubicBezTo>
                    <a:pt x="8509" y="1866900"/>
                    <a:pt x="0" y="1858391"/>
                    <a:pt x="0" y="184785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847850"/>
                  </a:lnTo>
                  <a:lnTo>
                    <a:pt x="19050" y="1847850"/>
                  </a:lnTo>
                  <a:lnTo>
                    <a:pt x="19050" y="1828800"/>
                  </a:lnTo>
                  <a:lnTo>
                    <a:pt x="4773930" y="1828800"/>
                  </a:lnTo>
                  <a:lnTo>
                    <a:pt x="4773930" y="1847850"/>
                  </a:lnTo>
                  <a:lnTo>
                    <a:pt x="4754880" y="1847850"/>
                  </a:lnTo>
                  <a:lnTo>
                    <a:pt x="4754880" y="19050"/>
                  </a:lnTo>
                  <a:lnTo>
                    <a:pt x="4773930" y="19050"/>
                  </a:lnTo>
                  <a:lnTo>
                    <a:pt x="477393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571750" y="2743200"/>
            <a:ext cx="2537460" cy="960120"/>
            <a:chOff x="0" y="0"/>
            <a:chExt cx="338328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83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6" r="0" b="-14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38328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CSV Sales Data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741670" y="3204210"/>
            <a:ext cx="586740" cy="38100"/>
            <a:chOff x="0" y="0"/>
            <a:chExt cx="78232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32232" y="2523172"/>
            <a:ext cx="4143375" cy="1400175"/>
            <a:chOff x="0" y="0"/>
            <a:chExt cx="5524500" cy="18669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548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245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5524500">
                  <a:moveTo>
                    <a:pt x="19050" y="0"/>
                  </a:moveTo>
                  <a:lnTo>
                    <a:pt x="5505450" y="0"/>
                  </a:lnTo>
                  <a:cubicBezTo>
                    <a:pt x="5515991" y="0"/>
                    <a:pt x="5524500" y="8509"/>
                    <a:pt x="5524500" y="19050"/>
                  </a:cubicBezTo>
                  <a:lnTo>
                    <a:pt x="5524500" y="1847850"/>
                  </a:lnTo>
                  <a:cubicBezTo>
                    <a:pt x="5524500" y="1858391"/>
                    <a:pt x="5515991" y="1866900"/>
                    <a:pt x="5505450" y="1866900"/>
                  </a:cubicBezTo>
                  <a:lnTo>
                    <a:pt x="19050" y="1866900"/>
                  </a:lnTo>
                  <a:cubicBezTo>
                    <a:pt x="8509" y="1866900"/>
                    <a:pt x="0" y="1858391"/>
                    <a:pt x="0" y="184785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847850"/>
                  </a:lnTo>
                  <a:lnTo>
                    <a:pt x="19050" y="1847850"/>
                  </a:lnTo>
                  <a:lnTo>
                    <a:pt x="19050" y="1828800"/>
                  </a:lnTo>
                  <a:lnTo>
                    <a:pt x="5505450" y="1828800"/>
                  </a:lnTo>
                  <a:lnTo>
                    <a:pt x="5505450" y="1847850"/>
                  </a:lnTo>
                  <a:lnTo>
                    <a:pt x="5486400" y="1847850"/>
                  </a:lnTo>
                  <a:lnTo>
                    <a:pt x="5486400" y="19050"/>
                  </a:lnTo>
                  <a:lnTo>
                    <a:pt x="5505450" y="19050"/>
                  </a:lnTo>
                  <a:lnTo>
                    <a:pt x="55054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83680" y="2674620"/>
            <a:ext cx="822960" cy="1097280"/>
            <a:chOff x="0" y="0"/>
            <a:chExt cx="109728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09728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λ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06640" y="2743200"/>
            <a:ext cx="3086100" cy="960120"/>
            <a:chOff x="0" y="0"/>
            <a:chExt cx="411480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1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411480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F17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process-csv-sales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79430" y="3204210"/>
            <a:ext cx="586740" cy="38100"/>
            <a:chOff x="0" y="0"/>
            <a:chExt cx="782320" cy="50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374755" y="2527935"/>
            <a:ext cx="6191250" cy="1390650"/>
            <a:chOff x="0" y="0"/>
            <a:chExt cx="8255000" cy="1854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822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55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8255000">
                  <a:moveTo>
                    <a:pt x="12700" y="0"/>
                  </a:moveTo>
                  <a:lnTo>
                    <a:pt x="8242300" y="0"/>
                  </a:lnTo>
                  <a:cubicBezTo>
                    <a:pt x="8249285" y="0"/>
                    <a:pt x="8255000" y="5715"/>
                    <a:pt x="8255000" y="12700"/>
                  </a:cubicBezTo>
                  <a:lnTo>
                    <a:pt x="8255000" y="1841500"/>
                  </a:lnTo>
                  <a:cubicBezTo>
                    <a:pt x="8255000" y="1848485"/>
                    <a:pt x="8249285" y="1854200"/>
                    <a:pt x="8242300" y="1854200"/>
                  </a:cubicBezTo>
                  <a:lnTo>
                    <a:pt x="12700" y="1854200"/>
                  </a:lnTo>
                  <a:cubicBezTo>
                    <a:pt x="5715" y="1854200"/>
                    <a:pt x="0" y="1848485"/>
                    <a:pt x="0" y="18415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41500"/>
                  </a:lnTo>
                  <a:lnTo>
                    <a:pt x="12700" y="1841500"/>
                  </a:lnTo>
                  <a:lnTo>
                    <a:pt x="12700" y="1828800"/>
                  </a:lnTo>
                  <a:lnTo>
                    <a:pt x="8242300" y="1828800"/>
                  </a:lnTo>
                  <a:lnTo>
                    <a:pt x="8242300" y="1841500"/>
                  </a:lnTo>
                  <a:lnTo>
                    <a:pt x="8229600" y="1841500"/>
                  </a:lnTo>
                  <a:lnTo>
                    <a:pt x="8229600" y="12700"/>
                  </a:lnTo>
                  <a:lnTo>
                    <a:pt x="8242300" y="12700"/>
                  </a:lnTo>
                  <a:lnTo>
                    <a:pt x="8242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590020" y="2606040"/>
            <a:ext cx="5897880" cy="1234440"/>
            <a:chOff x="0" y="0"/>
            <a:chExt cx="7863840" cy="16459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63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86384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Validates POS exports, cleans missing values, normalizes SKU codes, writes to DynamoDB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5800" y="5006340"/>
            <a:ext cx="960120" cy="960120"/>
            <a:chOff x="0" y="0"/>
            <a:chExt cx="1280160" cy="1280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85800" y="5006340"/>
            <a:ext cx="960120" cy="960120"/>
            <a:chOff x="0" y="0"/>
            <a:chExt cx="1280160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43112" y="4786312"/>
            <a:ext cx="3594735" cy="1400175"/>
            <a:chOff x="0" y="0"/>
            <a:chExt cx="4792980" cy="18669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9050" y="1905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92980" cy="1866900"/>
            </a:xfrm>
            <a:custGeom>
              <a:avLst/>
              <a:gdLst/>
              <a:ahLst/>
              <a:cxnLst/>
              <a:rect r="r" b="b" t="t" l="l"/>
              <a:pathLst>
                <a:path h="1866900" w="4792980">
                  <a:moveTo>
                    <a:pt x="19050" y="0"/>
                  </a:moveTo>
                  <a:lnTo>
                    <a:pt x="4773930" y="0"/>
                  </a:lnTo>
                  <a:cubicBezTo>
                    <a:pt x="4784471" y="0"/>
                    <a:pt x="4792980" y="8509"/>
                    <a:pt x="4792980" y="19050"/>
                  </a:cubicBezTo>
                  <a:lnTo>
                    <a:pt x="4792980" y="1847850"/>
                  </a:lnTo>
                  <a:cubicBezTo>
                    <a:pt x="4792980" y="1858391"/>
                    <a:pt x="4784471" y="1866900"/>
                    <a:pt x="4773930" y="1866900"/>
                  </a:cubicBezTo>
                  <a:lnTo>
                    <a:pt x="19050" y="1866900"/>
                  </a:lnTo>
                  <a:cubicBezTo>
                    <a:pt x="8509" y="1866900"/>
                    <a:pt x="0" y="1858391"/>
                    <a:pt x="0" y="184785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847850"/>
                  </a:lnTo>
                  <a:lnTo>
                    <a:pt x="19050" y="1847850"/>
                  </a:lnTo>
                  <a:lnTo>
                    <a:pt x="19050" y="1828800"/>
                  </a:lnTo>
                  <a:lnTo>
                    <a:pt x="4773930" y="1828800"/>
                  </a:lnTo>
                  <a:lnTo>
                    <a:pt x="4773930" y="1847850"/>
                  </a:lnTo>
                  <a:lnTo>
                    <a:pt x="4754880" y="1847850"/>
                  </a:lnTo>
                  <a:lnTo>
                    <a:pt x="4754880" y="19050"/>
                  </a:lnTo>
                  <a:lnTo>
                    <a:pt x="4773930" y="19050"/>
                  </a:lnTo>
                  <a:lnTo>
                    <a:pt x="477393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571750" y="5006340"/>
            <a:ext cx="2537460" cy="960120"/>
            <a:chOff x="0" y="0"/>
            <a:chExt cx="338328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83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6" r="0" b="-14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38328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Scanned PDF Ledgers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741670" y="5467350"/>
            <a:ext cx="586740" cy="38100"/>
            <a:chOff x="0" y="0"/>
            <a:chExt cx="782320" cy="50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432232" y="4786312"/>
            <a:ext cx="4143375" cy="1400175"/>
            <a:chOff x="0" y="0"/>
            <a:chExt cx="5524500" cy="18669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9050" y="19050"/>
              <a:ext cx="548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5245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5524500">
                  <a:moveTo>
                    <a:pt x="19050" y="0"/>
                  </a:moveTo>
                  <a:lnTo>
                    <a:pt x="5505450" y="0"/>
                  </a:lnTo>
                  <a:cubicBezTo>
                    <a:pt x="5515991" y="0"/>
                    <a:pt x="5524500" y="8509"/>
                    <a:pt x="5524500" y="19050"/>
                  </a:cubicBezTo>
                  <a:lnTo>
                    <a:pt x="5524500" y="1847850"/>
                  </a:lnTo>
                  <a:cubicBezTo>
                    <a:pt x="5524500" y="1858391"/>
                    <a:pt x="5515991" y="1866900"/>
                    <a:pt x="5505450" y="1866900"/>
                  </a:cubicBezTo>
                  <a:lnTo>
                    <a:pt x="19050" y="1866900"/>
                  </a:lnTo>
                  <a:cubicBezTo>
                    <a:pt x="8509" y="1866900"/>
                    <a:pt x="0" y="1858391"/>
                    <a:pt x="0" y="184785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847850"/>
                  </a:lnTo>
                  <a:lnTo>
                    <a:pt x="19050" y="1847850"/>
                  </a:lnTo>
                  <a:lnTo>
                    <a:pt x="19050" y="1828800"/>
                  </a:lnTo>
                  <a:lnTo>
                    <a:pt x="5505450" y="1828800"/>
                  </a:lnTo>
                  <a:lnTo>
                    <a:pt x="5505450" y="1847850"/>
                  </a:lnTo>
                  <a:lnTo>
                    <a:pt x="5486400" y="1847850"/>
                  </a:lnTo>
                  <a:lnTo>
                    <a:pt x="5486400" y="19050"/>
                  </a:lnTo>
                  <a:lnTo>
                    <a:pt x="5505450" y="19050"/>
                  </a:lnTo>
                  <a:lnTo>
                    <a:pt x="55054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583680" y="4937760"/>
            <a:ext cx="822960" cy="1097280"/>
            <a:chOff x="0" y="0"/>
            <a:chExt cx="1097280" cy="1463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0"/>
              <a:ext cx="109728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λ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406640" y="5006340"/>
            <a:ext cx="3086100" cy="960120"/>
            <a:chOff x="0" y="0"/>
            <a:chExt cx="411480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1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411480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F17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process-scanned-ledger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679430" y="5467350"/>
            <a:ext cx="586740" cy="38100"/>
            <a:chOff x="0" y="0"/>
            <a:chExt cx="782320" cy="50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374755" y="4791075"/>
            <a:ext cx="6191250" cy="1390650"/>
            <a:chOff x="0" y="0"/>
            <a:chExt cx="8255000" cy="1854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2700" y="12700"/>
              <a:ext cx="822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55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8255000">
                  <a:moveTo>
                    <a:pt x="12700" y="0"/>
                  </a:moveTo>
                  <a:lnTo>
                    <a:pt x="8242300" y="0"/>
                  </a:lnTo>
                  <a:cubicBezTo>
                    <a:pt x="8249285" y="0"/>
                    <a:pt x="8255000" y="5715"/>
                    <a:pt x="8255000" y="12700"/>
                  </a:cubicBezTo>
                  <a:lnTo>
                    <a:pt x="8255000" y="1841500"/>
                  </a:lnTo>
                  <a:cubicBezTo>
                    <a:pt x="8255000" y="1848485"/>
                    <a:pt x="8249285" y="1854200"/>
                    <a:pt x="8242300" y="1854200"/>
                  </a:cubicBezTo>
                  <a:lnTo>
                    <a:pt x="12700" y="1854200"/>
                  </a:lnTo>
                  <a:cubicBezTo>
                    <a:pt x="5715" y="1854200"/>
                    <a:pt x="0" y="1848485"/>
                    <a:pt x="0" y="18415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41500"/>
                  </a:lnTo>
                  <a:lnTo>
                    <a:pt x="12700" y="1841500"/>
                  </a:lnTo>
                  <a:lnTo>
                    <a:pt x="12700" y="1828800"/>
                  </a:lnTo>
                  <a:lnTo>
                    <a:pt x="8242300" y="1828800"/>
                  </a:lnTo>
                  <a:lnTo>
                    <a:pt x="8242300" y="1841500"/>
                  </a:lnTo>
                  <a:lnTo>
                    <a:pt x="8229600" y="1841500"/>
                  </a:lnTo>
                  <a:lnTo>
                    <a:pt x="8229600" y="12700"/>
                  </a:lnTo>
                  <a:lnTo>
                    <a:pt x="8242300" y="12700"/>
                  </a:lnTo>
                  <a:lnTo>
                    <a:pt x="8242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590020" y="4869180"/>
            <a:ext cx="5897880" cy="1234440"/>
            <a:chOff x="0" y="0"/>
            <a:chExt cx="7863840" cy="16459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863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786384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Textract extracts handwritten and typed text from scanned documents — even tables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85800" y="7269480"/>
            <a:ext cx="960120" cy="960120"/>
            <a:chOff x="0" y="0"/>
            <a:chExt cx="1280160" cy="12801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85800" y="7269480"/>
            <a:ext cx="960120" cy="960120"/>
            <a:chOff x="0" y="0"/>
            <a:chExt cx="1280160" cy="12801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043112" y="7049453"/>
            <a:ext cx="3594735" cy="1400175"/>
            <a:chOff x="0" y="0"/>
            <a:chExt cx="4792980" cy="18669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9050" y="1905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792980" cy="1866900"/>
            </a:xfrm>
            <a:custGeom>
              <a:avLst/>
              <a:gdLst/>
              <a:ahLst/>
              <a:cxnLst/>
              <a:rect r="r" b="b" t="t" l="l"/>
              <a:pathLst>
                <a:path h="1866900" w="4792980">
                  <a:moveTo>
                    <a:pt x="19050" y="0"/>
                  </a:moveTo>
                  <a:lnTo>
                    <a:pt x="4773930" y="0"/>
                  </a:lnTo>
                  <a:cubicBezTo>
                    <a:pt x="4784471" y="0"/>
                    <a:pt x="4792980" y="8509"/>
                    <a:pt x="4792980" y="19050"/>
                  </a:cubicBezTo>
                  <a:lnTo>
                    <a:pt x="4792980" y="1847850"/>
                  </a:lnTo>
                  <a:cubicBezTo>
                    <a:pt x="4792980" y="1858391"/>
                    <a:pt x="4784471" y="1866900"/>
                    <a:pt x="4773930" y="1866900"/>
                  </a:cubicBezTo>
                  <a:lnTo>
                    <a:pt x="19050" y="1866900"/>
                  </a:lnTo>
                  <a:cubicBezTo>
                    <a:pt x="8509" y="1866900"/>
                    <a:pt x="0" y="1858391"/>
                    <a:pt x="0" y="184785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847850"/>
                  </a:lnTo>
                  <a:lnTo>
                    <a:pt x="19050" y="1847850"/>
                  </a:lnTo>
                  <a:lnTo>
                    <a:pt x="19050" y="1828800"/>
                  </a:lnTo>
                  <a:lnTo>
                    <a:pt x="4773930" y="1828800"/>
                  </a:lnTo>
                  <a:lnTo>
                    <a:pt x="4773930" y="1847850"/>
                  </a:lnTo>
                  <a:lnTo>
                    <a:pt x="4754880" y="1847850"/>
                  </a:lnTo>
                  <a:lnTo>
                    <a:pt x="4754880" y="19050"/>
                  </a:lnTo>
                  <a:lnTo>
                    <a:pt x="4773930" y="19050"/>
                  </a:lnTo>
                  <a:lnTo>
                    <a:pt x="477393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2571750" y="7269480"/>
            <a:ext cx="2537460" cy="960120"/>
            <a:chOff x="0" y="0"/>
            <a:chExt cx="3383280" cy="12801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383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6" r="0" b="-149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338328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Typed Manager Notes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741670" y="7730490"/>
            <a:ext cx="586740" cy="38100"/>
            <a:chOff x="0" y="0"/>
            <a:chExt cx="782320" cy="50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432232" y="7049453"/>
            <a:ext cx="4143375" cy="1400175"/>
            <a:chOff x="0" y="0"/>
            <a:chExt cx="5524500" cy="18669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9050" y="19050"/>
              <a:ext cx="548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EC4899">
                <a:alpha val="1961"/>
              </a:srgbClr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5245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5524500">
                  <a:moveTo>
                    <a:pt x="19050" y="0"/>
                  </a:moveTo>
                  <a:lnTo>
                    <a:pt x="5505450" y="0"/>
                  </a:lnTo>
                  <a:cubicBezTo>
                    <a:pt x="5515991" y="0"/>
                    <a:pt x="5524500" y="8509"/>
                    <a:pt x="5524500" y="19050"/>
                  </a:cubicBezTo>
                  <a:lnTo>
                    <a:pt x="5524500" y="1847850"/>
                  </a:lnTo>
                  <a:cubicBezTo>
                    <a:pt x="5524500" y="1858391"/>
                    <a:pt x="5515991" y="1866900"/>
                    <a:pt x="5505450" y="1866900"/>
                  </a:cubicBezTo>
                  <a:lnTo>
                    <a:pt x="19050" y="1866900"/>
                  </a:lnTo>
                  <a:cubicBezTo>
                    <a:pt x="8509" y="1866900"/>
                    <a:pt x="0" y="1858391"/>
                    <a:pt x="0" y="184785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847850"/>
                  </a:lnTo>
                  <a:lnTo>
                    <a:pt x="19050" y="1847850"/>
                  </a:lnTo>
                  <a:lnTo>
                    <a:pt x="19050" y="1828800"/>
                  </a:lnTo>
                  <a:lnTo>
                    <a:pt x="5505450" y="1828800"/>
                  </a:lnTo>
                  <a:lnTo>
                    <a:pt x="5505450" y="1847850"/>
                  </a:lnTo>
                  <a:lnTo>
                    <a:pt x="5486400" y="1847850"/>
                  </a:lnTo>
                  <a:lnTo>
                    <a:pt x="5486400" y="19050"/>
                  </a:lnTo>
                  <a:lnTo>
                    <a:pt x="5505450" y="19050"/>
                  </a:lnTo>
                  <a:lnTo>
                    <a:pt x="55054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583680" y="7200900"/>
            <a:ext cx="822960" cy="1097280"/>
            <a:chOff x="0" y="0"/>
            <a:chExt cx="1097280" cy="14630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0"/>
              <a:ext cx="109728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EC48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λ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406640" y="7269480"/>
            <a:ext cx="3086100" cy="960120"/>
            <a:chOff x="0" y="0"/>
            <a:chExt cx="4114800" cy="12801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11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411480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F17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process-typed-sales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679430" y="7730490"/>
            <a:ext cx="586740" cy="38100"/>
            <a:chOff x="0" y="0"/>
            <a:chExt cx="782320" cy="50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1374755" y="7054215"/>
            <a:ext cx="6191250" cy="1390650"/>
            <a:chOff x="0" y="0"/>
            <a:chExt cx="8255000" cy="1854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2700" y="12700"/>
              <a:ext cx="822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2550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8255000">
                  <a:moveTo>
                    <a:pt x="12700" y="0"/>
                  </a:moveTo>
                  <a:lnTo>
                    <a:pt x="8242300" y="0"/>
                  </a:lnTo>
                  <a:cubicBezTo>
                    <a:pt x="8249285" y="0"/>
                    <a:pt x="8255000" y="5715"/>
                    <a:pt x="8255000" y="12700"/>
                  </a:cubicBezTo>
                  <a:lnTo>
                    <a:pt x="8255000" y="1841500"/>
                  </a:lnTo>
                  <a:cubicBezTo>
                    <a:pt x="8255000" y="1848485"/>
                    <a:pt x="8249285" y="1854200"/>
                    <a:pt x="8242300" y="1854200"/>
                  </a:cubicBezTo>
                  <a:lnTo>
                    <a:pt x="12700" y="1854200"/>
                  </a:lnTo>
                  <a:cubicBezTo>
                    <a:pt x="5715" y="1854200"/>
                    <a:pt x="0" y="1848485"/>
                    <a:pt x="0" y="18415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41500"/>
                  </a:lnTo>
                  <a:lnTo>
                    <a:pt x="12700" y="1841500"/>
                  </a:lnTo>
                  <a:lnTo>
                    <a:pt x="12700" y="1828800"/>
                  </a:lnTo>
                  <a:lnTo>
                    <a:pt x="8242300" y="1828800"/>
                  </a:lnTo>
                  <a:lnTo>
                    <a:pt x="8242300" y="1841500"/>
                  </a:lnTo>
                  <a:lnTo>
                    <a:pt x="8229600" y="1841500"/>
                  </a:lnTo>
                  <a:lnTo>
                    <a:pt x="8229600" y="12700"/>
                  </a:lnTo>
                  <a:lnTo>
                    <a:pt x="8242300" y="12700"/>
                  </a:lnTo>
                  <a:lnTo>
                    <a:pt x="8242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1590020" y="7132320"/>
            <a:ext cx="5897880" cy="1234440"/>
            <a:chOff x="0" y="0"/>
            <a:chExt cx="7863840" cy="16459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863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786384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Amazon Comprehend parses unstructured notes, extracts entities and product mentions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Forecasting &amp; Alert Pipeline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Daily scheduled Lambdas predict demand and warn of stockouts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6275" y="2185035"/>
            <a:ext cx="8248650" cy="7288530"/>
            <a:chOff x="0" y="0"/>
            <a:chExt cx="10998200" cy="9718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097280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98200" cy="9718040"/>
            </a:xfrm>
            <a:custGeom>
              <a:avLst/>
              <a:gdLst/>
              <a:ahLst/>
              <a:cxnLst/>
              <a:rect r="r" b="b" t="t" l="l"/>
              <a:pathLst>
                <a:path h="971804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9705340"/>
                  </a:lnTo>
                  <a:cubicBezTo>
                    <a:pt x="10998200" y="9712325"/>
                    <a:pt x="10992485" y="9718040"/>
                    <a:pt x="10985500" y="9718040"/>
                  </a:cubicBezTo>
                  <a:lnTo>
                    <a:pt x="12700" y="9718040"/>
                  </a:lnTo>
                  <a:cubicBezTo>
                    <a:pt x="5715" y="9718040"/>
                    <a:pt x="0" y="9712325"/>
                    <a:pt x="0" y="9705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05340"/>
                  </a:lnTo>
                  <a:lnTo>
                    <a:pt x="12700" y="9705340"/>
                  </a:lnTo>
                  <a:lnTo>
                    <a:pt x="12700" y="9692640"/>
                  </a:lnTo>
                  <a:lnTo>
                    <a:pt x="10985500" y="9692640"/>
                  </a:lnTo>
                  <a:lnTo>
                    <a:pt x="10985500" y="9705340"/>
                  </a:lnTo>
                  <a:lnTo>
                    <a:pt x="10972800" y="970534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0" y="2194560"/>
            <a:ext cx="8229600" cy="685800"/>
            <a:chOff x="0" y="0"/>
            <a:chExt cx="109728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194560"/>
            <a:ext cx="7680960" cy="685800"/>
            <a:chOff x="0" y="0"/>
            <a:chExt cx="1024128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412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FORECASTING FLOW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3223260"/>
            <a:ext cx="617220" cy="617220"/>
            <a:chOff x="0" y="0"/>
            <a:chExt cx="82296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3223260"/>
            <a:ext cx="617220" cy="617220"/>
            <a:chOff x="0" y="0"/>
            <a:chExt cx="82296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920240" y="3154680"/>
            <a:ext cx="6858000" cy="411480"/>
            <a:chOff x="0" y="0"/>
            <a:chExt cx="91440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EventBridge daily trigger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20240" y="3566160"/>
            <a:ext cx="6858000" cy="411480"/>
            <a:chOff x="0" y="0"/>
            <a:chExt cx="91440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Scheduled rule fires forecast Lambda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4389120"/>
            <a:ext cx="617220" cy="617220"/>
            <a:chOff x="0" y="0"/>
            <a:chExt cx="822960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28700" y="4389120"/>
            <a:ext cx="617220" cy="617220"/>
            <a:chOff x="0" y="0"/>
            <a:chExt cx="82296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20240" y="4320540"/>
            <a:ext cx="6858000" cy="411480"/>
            <a:chOff x="0" y="0"/>
            <a:chExt cx="91440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forecast-demand Lambda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920240" y="4732020"/>
            <a:ext cx="6858000" cy="411480"/>
            <a:chOff x="0" y="0"/>
            <a:chExt cx="91440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Reads historical sales from DynamoDB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28700" y="5554980"/>
            <a:ext cx="617220" cy="617220"/>
            <a:chOff x="0" y="0"/>
            <a:chExt cx="822960" cy="822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28700" y="5554980"/>
            <a:ext cx="617220" cy="617220"/>
            <a:chOff x="0" y="0"/>
            <a:chExt cx="82296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0240" y="5486400"/>
            <a:ext cx="6858000" cy="411480"/>
            <a:chOff x="0" y="0"/>
            <a:chExt cx="91440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Statistical model runs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20240" y="5897880"/>
            <a:ext cx="6858000" cy="411480"/>
            <a:chOff x="0" y="0"/>
            <a:chExt cx="91440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Predicts next 7 days of demand per SKU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8700" y="6720840"/>
            <a:ext cx="617220" cy="617220"/>
            <a:chOff x="0" y="0"/>
            <a:chExt cx="822960" cy="8229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28700" y="6720840"/>
            <a:ext cx="617220" cy="617220"/>
            <a:chOff x="0" y="0"/>
            <a:chExt cx="82296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20240" y="6652260"/>
            <a:ext cx="6858000" cy="411480"/>
            <a:chOff x="0" y="0"/>
            <a:chExt cx="91440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 scoring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920240" y="7063740"/>
            <a:ext cx="6858000" cy="411480"/>
            <a:chOff x="0" y="0"/>
            <a:chExt cx="914400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prediction gets a confidence value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28700" y="7886700"/>
            <a:ext cx="617220" cy="617220"/>
            <a:chOff x="0" y="0"/>
            <a:chExt cx="822960" cy="8229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28700" y="7886700"/>
            <a:ext cx="617220" cy="617220"/>
            <a:chOff x="0" y="0"/>
            <a:chExt cx="822960" cy="8229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920240" y="7818120"/>
            <a:ext cx="6858000" cy="411480"/>
            <a:chOff x="0" y="0"/>
            <a:chExt cx="91440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Write to Forecasts table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20240" y="8229600"/>
            <a:ext cx="6858000" cy="411480"/>
            <a:chOff x="0" y="0"/>
            <a:chExt cx="914400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Results stored with date and store_sku key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317355" y="2185035"/>
            <a:ext cx="8248650" cy="7288530"/>
            <a:chOff x="0" y="0"/>
            <a:chExt cx="10998200" cy="97180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2700" y="12700"/>
              <a:ext cx="1097280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98200" cy="9718040"/>
            </a:xfrm>
            <a:custGeom>
              <a:avLst/>
              <a:gdLst/>
              <a:ahLst/>
              <a:cxnLst/>
              <a:rect r="r" b="b" t="t" l="l"/>
              <a:pathLst>
                <a:path h="971804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9705340"/>
                  </a:lnTo>
                  <a:cubicBezTo>
                    <a:pt x="10998200" y="9712325"/>
                    <a:pt x="10992485" y="9718040"/>
                    <a:pt x="10985500" y="9718040"/>
                  </a:cubicBezTo>
                  <a:lnTo>
                    <a:pt x="12700" y="9718040"/>
                  </a:lnTo>
                  <a:cubicBezTo>
                    <a:pt x="5715" y="9718040"/>
                    <a:pt x="0" y="9712325"/>
                    <a:pt x="0" y="9705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05340"/>
                  </a:lnTo>
                  <a:lnTo>
                    <a:pt x="12700" y="9705340"/>
                  </a:lnTo>
                  <a:lnTo>
                    <a:pt x="12700" y="9692640"/>
                  </a:lnTo>
                  <a:lnTo>
                    <a:pt x="10985500" y="9692640"/>
                  </a:lnTo>
                  <a:lnTo>
                    <a:pt x="10985500" y="9705340"/>
                  </a:lnTo>
                  <a:lnTo>
                    <a:pt x="10972800" y="970534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326880" y="2194560"/>
            <a:ext cx="8229600" cy="685800"/>
            <a:chOff x="0" y="0"/>
            <a:chExt cx="10972800" cy="914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01200" y="2194560"/>
            <a:ext cx="7680960" cy="685800"/>
            <a:chOff x="0" y="0"/>
            <a:chExt cx="1024128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02412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STOCKOUT ALERT FLOW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69780" y="3223260"/>
            <a:ext cx="617220" cy="617220"/>
            <a:chOff x="0" y="0"/>
            <a:chExt cx="822960" cy="8229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669780" y="3223260"/>
            <a:ext cx="617220" cy="617220"/>
            <a:chOff x="0" y="0"/>
            <a:chExt cx="822960" cy="8229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561320" y="3154680"/>
            <a:ext cx="6858000" cy="411480"/>
            <a:chOff x="0" y="0"/>
            <a:chExt cx="91440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Daily alert Lambda runs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561320" y="3566160"/>
            <a:ext cx="6858000" cy="411480"/>
            <a:chOff x="0" y="0"/>
            <a:chExt cx="914400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check-stockouts-alert scheduled by EventBridge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669780" y="4389120"/>
            <a:ext cx="617220" cy="617220"/>
            <a:chOff x="0" y="0"/>
            <a:chExt cx="822960" cy="8229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669780" y="4389120"/>
            <a:ext cx="617220" cy="617220"/>
            <a:chOff x="0" y="0"/>
            <a:chExt cx="822960" cy="8229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561320" y="4320540"/>
            <a:ext cx="6858000" cy="411480"/>
            <a:chOff x="0" y="0"/>
            <a:chExt cx="914400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Compares projected vs safety stock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561320" y="4732020"/>
            <a:ext cx="6858000" cy="411480"/>
            <a:chOff x="0" y="0"/>
            <a:chExt cx="914400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 every SKU in every store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669780" y="5554980"/>
            <a:ext cx="617220" cy="617220"/>
            <a:chOff x="0" y="0"/>
            <a:chExt cx="822960" cy="8229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669780" y="5554980"/>
            <a:ext cx="617220" cy="617220"/>
            <a:chOff x="0" y="0"/>
            <a:chExt cx="822960" cy="8229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561320" y="5486400"/>
            <a:ext cx="6858000" cy="411480"/>
            <a:chOff x="0" y="0"/>
            <a:chExt cx="9144000" cy="5486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Identifies at-risk SKUs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561320" y="5897880"/>
            <a:ext cx="6858000" cy="411480"/>
            <a:chOff x="0" y="0"/>
            <a:chExt cx="9144000" cy="5486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Items predicted below reorder point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669780" y="6720840"/>
            <a:ext cx="617220" cy="617220"/>
            <a:chOff x="0" y="0"/>
            <a:chExt cx="822960" cy="8229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669780" y="6720840"/>
            <a:ext cx="617220" cy="617220"/>
            <a:chOff x="0" y="0"/>
            <a:chExt cx="822960" cy="8229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561320" y="6652260"/>
            <a:ext cx="6858000" cy="411480"/>
            <a:chOff x="0" y="0"/>
            <a:chExt cx="9144000" cy="548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Sends email notification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0561320" y="7063740"/>
            <a:ext cx="6858000" cy="411480"/>
            <a:chOff x="0" y="0"/>
            <a:chExt cx="9144000" cy="5486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Uses verified email channel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669780" y="7886700"/>
            <a:ext cx="617220" cy="617220"/>
            <a:chOff x="0" y="0"/>
            <a:chExt cx="822960" cy="82296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9669780" y="7886700"/>
            <a:ext cx="617220" cy="617220"/>
            <a:chOff x="0" y="0"/>
            <a:chExt cx="822960" cy="82296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561320" y="7818120"/>
            <a:ext cx="6858000" cy="411480"/>
            <a:chOff x="0" y="0"/>
            <a:chExt cx="9144000" cy="5486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Manager reorders BEFORE stockout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0561320" y="8229600"/>
            <a:ext cx="6858000" cy="411480"/>
            <a:chOff x="0" y="0"/>
            <a:chExt cx="9144000" cy="54864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Proactive intervention prevents loss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&amp; User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Cognito-based auth with automated profile provisioning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800" y="2194560"/>
            <a:ext cx="8915400" cy="411480"/>
            <a:chOff x="0" y="0"/>
            <a:chExt cx="118872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87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887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 FLOW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6810" y="3478530"/>
            <a:ext cx="38100" cy="449580"/>
            <a:chOff x="0" y="0"/>
            <a:chExt cx="50800" cy="599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00"/>
              <a:ext cx="508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">
                  <a:moveTo>
                    <a:pt x="50800" y="355600"/>
                  </a:moveTo>
                  <a:lnTo>
                    <a:pt x="50800" y="508000"/>
                  </a:lnTo>
                  <a:lnTo>
                    <a:pt x="0" y="508000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74320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2743200"/>
            <a:ext cx="685800" cy="685800"/>
            <a:chOff x="0" y="0"/>
            <a:chExt cx="914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83080" y="2811780"/>
            <a:ext cx="7543800" cy="548640"/>
            <a:chOff x="0" y="0"/>
            <a:chExt cx="100584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signs up via web form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6810" y="4644390"/>
            <a:ext cx="38100" cy="449580"/>
            <a:chOff x="0" y="0"/>
            <a:chExt cx="50800" cy="599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25400"/>
              <a:ext cx="508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">
                  <a:moveTo>
                    <a:pt x="50800" y="355600"/>
                  </a:moveTo>
                  <a:lnTo>
                    <a:pt x="50800" y="508000"/>
                  </a:lnTo>
                  <a:lnTo>
                    <a:pt x="0" y="508000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3909060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3909060"/>
            <a:ext cx="685800" cy="685800"/>
            <a:chOff x="0" y="0"/>
            <a:chExt cx="914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83080" y="3977640"/>
            <a:ext cx="7543800" cy="548640"/>
            <a:chOff x="0" y="0"/>
            <a:chExt cx="100584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Cognito creates user account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6810" y="5810250"/>
            <a:ext cx="38100" cy="449580"/>
            <a:chOff x="0" y="0"/>
            <a:chExt cx="50800" cy="599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25400"/>
              <a:ext cx="508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">
                  <a:moveTo>
                    <a:pt x="50800" y="355600"/>
                  </a:moveTo>
                  <a:lnTo>
                    <a:pt x="50800" y="508000"/>
                  </a:lnTo>
                  <a:lnTo>
                    <a:pt x="0" y="508000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5074920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5074920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83080" y="5143500"/>
            <a:ext cx="7543800" cy="548640"/>
            <a:chOff x="0" y="0"/>
            <a:chExt cx="100584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Post-confirmation Lambda triggers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46810" y="6976110"/>
            <a:ext cx="38100" cy="449580"/>
            <a:chOff x="0" y="0"/>
            <a:chExt cx="50800" cy="599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25400"/>
              <a:ext cx="508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">
                  <a:moveTo>
                    <a:pt x="50800" y="355600"/>
                  </a:moveTo>
                  <a:lnTo>
                    <a:pt x="50800" y="508000"/>
                  </a:lnTo>
                  <a:lnTo>
                    <a:pt x="0" y="508000"/>
                  </a:lnTo>
                  <a:lnTo>
                    <a:pt x="0" y="3556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6240780"/>
            <a:ext cx="685800" cy="685800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6240780"/>
            <a:ext cx="685800" cy="685800"/>
            <a:chOff x="0" y="0"/>
            <a:chExt cx="914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83080" y="6309360"/>
            <a:ext cx="7543800" cy="548640"/>
            <a:chOff x="0" y="0"/>
            <a:chExt cx="100584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profile written to DynamoDB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7406640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7406640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83080" y="7475220"/>
            <a:ext cx="7543800" cy="548640"/>
            <a:chOff x="0" y="0"/>
            <a:chExt cx="1005840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logs in → JWT token issued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121265" y="1518285"/>
            <a:ext cx="7269480" cy="7269480"/>
            <a:chOff x="0" y="0"/>
            <a:chExt cx="9692640" cy="9692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692640" cy="9692640"/>
            </a:xfrm>
            <a:custGeom>
              <a:avLst/>
              <a:gdLst/>
              <a:ahLst/>
              <a:cxnLst/>
              <a:rect r="r" b="b" t="t" l="l"/>
              <a:pathLst>
                <a:path h="9692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395585" y="1861185"/>
            <a:ext cx="6858000" cy="480060"/>
            <a:chOff x="0" y="0"/>
            <a:chExt cx="91440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91440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LAYERS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395585" y="2615565"/>
            <a:ext cx="6858000" cy="411480"/>
            <a:chOff x="0" y="0"/>
            <a:chExt cx="91440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Identity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395585" y="3027045"/>
            <a:ext cx="6858000" cy="685800"/>
            <a:chOff x="0" y="0"/>
            <a:chExt cx="914400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9144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Cognito User Pool — email verification, password reset, JWT tokens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395585" y="3781425"/>
            <a:ext cx="6858000" cy="411480"/>
            <a:chOff x="0" y="0"/>
            <a:chExt cx="91440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Network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395585" y="4192905"/>
            <a:ext cx="6858000" cy="685800"/>
            <a:chOff x="0" y="0"/>
            <a:chExt cx="91440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9144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Lambdas in private subnets, no direct internet access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395585" y="4947285"/>
            <a:ext cx="6858000" cy="411480"/>
            <a:chOff x="0" y="0"/>
            <a:chExt cx="914400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 Control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395585" y="5358765"/>
            <a:ext cx="6858000" cy="685800"/>
            <a:chOff x="0" y="0"/>
            <a:chExt cx="914400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9144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IAM least-privilege roles, granular per Lambda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395585" y="6113145"/>
            <a:ext cx="6858000" cy="411480"/>
            <a:chOff x="0" y="0"/>
            <a:chExt cx="91440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395585" y="6524625"/>
            <a:ext cx="6858000" cy="685800"/>
            <a:chOff x="0" y="0"/>
            <a:chExt cx="9144000" cy="914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9144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CloudTrail logs every API call · VPC Flow Logs capture network traffic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395585" y="7279005"/>
            <a:ext cx="6858000" cy="411480"/>
            <a:chOff x="0" y="0"/>
            <a:chExt cx="91440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91440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  <a:r>
                <a:rPr lang="en-US" sz="195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ncryption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395585" y="7690485"/>
            <a:ext cx="6858000" cy="685800"/>
            <a:chOff x="0" y="0"/>
            <a:chExt cx="9144000" cy="914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9144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DynamoDB at-rest encryption · TLS in transit everywhere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What store managers actually see and use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800" y="2194560"/>
            <a:ext cx="7543800" cy="411480"/>
            <a:chOff x="0" y="0"/>
            <a:chExt cx="10058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058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FEATURES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08760" y="2673650"/>
            <a:ext cx="6858000" cy="480268"/>
            <a:chOff x="0" y="0"/>
            <a:chExt cx="9144000" cy="640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640358"/>
            </a:xfrm>
            <a:custGeom>
              <a:avLst/>
              <a:gdLst/>
              <a:ahLst/>
              <a:cxnLst/>
              <a:rect r="r" b="b" t="t" l="l"/>
              <a:pathLst>
                <a:path h="64035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258" r="0" b="-22821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0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Authentication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08760" y="3086100"/>
            <a:ext cx="6858000" cy="480060"/>
            <a:chOff x="0" y="0"/>
            <a:chExt cx="914400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Login, signup, and forgot-password flows powered by Cognito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08760" y="3744468"/>
            <a:ext cx="6858000" cy="480268"/>
            <a:chOff x="0" y="0"/>
            <a:chExt cx="9144000" cy="6403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640358"/>
            </a:xfrm>
            <a:custGeom>
              <a:avLst/>
              <a:gdLst/>
              <a:ahLst/>
              <a:cxnLst/>
              <a:rect r="r" b="b" t="t" l="l"/>
              <a:pathLst>
                <a:path h="64035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258" r="0" b="-2282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0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Store Selector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08760" y="4155948"/>
            <a:ext cx="6858000" cy="480060"/>
            <a:chOff x="0" y="0"/>
            <a:chExt cx="91440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Switch between any of the 7 active stores instantly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8760" y="4814316"/>
            <a:ext cx="6858000" cy="480268"/>
            <a:chOff x="0" y="0"/>
            <a:chExt cx="9144000" cy="6403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0" cy="640358"/>
            </a:xfrm>
            <a:custGeom>
              <a:avLst/>
              <a:gdLst/>
              <a:ahLst/>
              <a:cxnLst/>
              <a:rect r="r" b="b" t="t" l="l"/>
              <a:pathLst>
                <a:path h="64035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258" r="0" b="-2282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0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Live Stat Cards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08760" y="5225796"/>
            <a:ext cx="6858000" cy="480060"/>
            <a:chOff x="0" y="0"/>
            <a:chExt cx="91440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Forecasts count, unique SKUs, predicted units, revenue, confidence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08760" y="5884164"/>
            <a:ext cx="6858000" cy="480268"/>
            <a:chOff x="0" y="0"/>
            <a:chExt cx="9144000" cy="6403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0" cy="640358"/>
            </a:xfrm>
            <a:custGeom>
              <a:avLst/>
              <a:gdLst/>
              <a:ahLst/>
              <a:cxnLst/>
              <a:rect r="r" b="b" t="t" l="l"/>
              <a:pathLst>
                <a:path h="64035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258" r="0" b="-22821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144000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Interactive Charts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08760" y="6295644"/>
            <a:ext cx="6858000" cy="480060"/>
            <a:chOff x="0" y="0"/>
            <a:chExt cx="914400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Trend line, weekday/weekend split, top SKUs, confidence radar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08760" y="6954012"/>
            <a:ext cx="6858000" cy="480268"/>
            <a:chOff x="0" y="0"/>
            <a:chExt cx="9144000" cy="6403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640358"/>
            </a:xfrm>
            <a:custGeom>
              <a:avLst/>
              <a:gdLst/>
              <a:ahLst/>
              <a:cxnLst/>
              <a:rect r="r" b="b" t="t" l="l"/>
              <a:pathLst>
                <a:path h="64035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258" r="0" b="-22821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0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High-Demand Alerts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08760" y="7365492"/>
            <a:ext cx="6858000" cy="480060"/>
            <a:chOff x="0" y="0"/>
            <a:chExt cx="9144000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Top 3 SKUs flagged when predicted volume exceeds threshold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08760" y="8023860"/>
            <a:ext cx="6858000" cy="480268"/>
            <a:chOff x="0" y="0"/>
            <a:chExt cx="9144000" cy="64035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0" cy="640358"/>
            </a:xfrm>
            <a:custGeom>
              <a:avLst/>
              <a:gdLst/>
              <a:ahLst/>
              <a:cxnLst/>
              <a:rect r="r" b="b" t="t" l="l"/>
              <a:pathLst>
                <a:path h="64035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258" r="0" b="-22821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44000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Data Table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08760" y="8435340"/>
            <a:ext cx="6858000" cy="480060"/>
            <a:chOff x="0" y="0"/>
            <a:chExt cx="914400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forecast with SKU, date, day type, quantity, price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89720" y="1448285"/>
            <a:ext cx="8366760" cy="7269480"/>
            <a:chOff x="0" y="0"/>
            <a:chExt cx="11155680" cy="9692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15568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532620" y="1791185"/>
            <a:ext cx="7818120" cy="480060"/>
            <a:chOff x="0" y="0"/>
            <a:chExt cx="1042416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24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327" r="0" b="-26732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042416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DEMO  ·  STORE008 (CHENNAI)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32620" y="2545565"/>
            <a:ext cx="3291840" cy="960120"/>
            <a:chOff x="0" y="0"/>
            <a:chExt cx="438912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0"/>
              <a:ext cx="438912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38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893040" y="2545565"/>
            <a:ext cx="4526280" cy="960120"/>
            <a:chOff x="0" y="0"/>
            <a:chExt cx="6035040" cy="1280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60350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Forecast records returned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32620" y="3711425"/>
            <a:ext cx="3291840" cy="960120"/>
            <a:chOff x="0" y="0"/>
            <a:chExt cx="4389120" cy="1280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891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0"/>
              <a:ext cx="438912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893040" y="3711425"/>
            <a:ext cx="4526280" cy="960120"/>
            <a:chOff x="0" y="0"/>
            <a:chExt cx="6035040" cy="12801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60350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Unique SKUs tracked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32620" y="4877285"/>
            <a:ext cx="3291840" cy="960120"/>
            <a:chOff x="0" y="0"/>
            <a:chExt cx="4389120" cy="1280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0"/>
              <a:ext cx="438912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221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893040" y="4877285"/>
            <a:ext cx="4526280" cy="960120"/>
            <a:chOff x="0" y="0"/>
            <a:chExt cx="6035040" cy="12801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60350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predicted units (7 days)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32620" y="6043145"/>
            <a:ext cx="3291840" cy="960120"/>
            <a:chOff x="0" y="0"/>
            <a:chExt cx="4389120" cy="12801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91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0"/>
              <a:ext cx="438912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₹38,771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893040" y="6043145"/>
            <a:ext cx="4526280" cy="960120"/>
            <a:chOff x="0" y="0"/>
            <a:chExt cx="6035040" cy="12801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60350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Projected revenue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32620" y="7209005"/>
            <a:ext cx="3291840" cy="960120"/>
            <a:chOff x="0" y="0"/>
            <a:chExt cx="4389120" cy="12801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891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0"/>
              <a:ext cx="438912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75%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893040" y="7209005"/>
            <a:ext cx="4526280" cy="960120"/>
            <a:chOff x="0" y="0"/>
            <a:chExt cx="6035040" cy="12801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60350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model confidence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Sample Forecast Output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Real data flowing through the system  ·  STORE008 / 7 days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11480" y="1234440"/>
            <a:ext cx="13167360" cy="864108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11923395" y="2322195"/>
            <a:ext cx="5642610" cy="6465570"/>
            <a:chOff x="0" y="0"/>
            <a:chExt cx="7523480" cy="8620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7498080" cy="8595360"/>
            </a:xfrm>
            <a:custGeom>
              <a:avLst/>
              <a:gdLst/>
              <a:ahLst/>
              <a:cxnLst/>
              <a:rect r="r" b="b" t="t" l="l"/>
              <a:pathLst>
                <a:path h="859536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8595360"/>
                  </a:lnTo>
                  <a:lnTo>
                    <a:pt x="0" y="859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2348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523480">
                  <a:moveTo>
                    <a:pt x="12700" y="0"/>
                  </a:moveTo>
                  <a:lnTo>
                    <a:pt x="7510780" y="0"/>
                  </a:lnTo>
                  <a:cubicBezTo>
                    <a:pt x="7517765" y="0"/>
                    <a:pt x="7523480" y="5715"/>
                    <a:pt x="7523480" y="12700"/>
                  </a:cubicBezTo>
                  <a:lnTo>
                    <a:pt x="7523480" y="8608060"/>
                  </a:lnTo>
                  <a:cubicBezTo>
                    <a:pt x="7523480" y="8615045"/>
                    <a:pt x="7517765" y="8620760"/>
                    <a:pt x="7510780" y="8620760"/>
                  </a:cubicBezTo>
                  <a:lnTo>
                    <a:pt x="12700" y="8620760"/>
                  </a:lnTo>
                  <a:cubicBezTo>
                    <a:pt x="5715" y="8620760"/>
                    <a:pt x="0" y="8615045"/>
                    <a:pt x="0" y="8608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608060"/>
                  </a:lnTo>
                  <a:lnTo>
                    <a:pt x="12700" y="8608060"/>
                  </a:lnTo>
                  <a:lnTo>
                    <a:pt x="12700" y="8595360"/>
                  </a:lnTo>
                  <a:lnTo>
                    <a:pt x="7510780" y="8595360"/>
                  </a:lnTo>
                  <a:lnTo>
                    <a:pt x="7510780" y="8608060"/>
                  </a:lnTo>
                  <a:lnTo>
                    <a:pt x="7498080" y="8608060"/>
                  </a:lnTo>
                  <a:lnTo>
                    <a:pt x="7498080" y="12700"/>
                  </a:lnTo>
                  <a:lnTo>
                    <a:pt x="7510780" y="12700"/>
                  </a:lnTo>
                  <a:lnTo>
                    <a:pt x="75107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207240" y="2606040"/>
            <a:ext cx="5212080" cy="480060"/>
            <a:chOff x="0" y="0"/>
            <a:chExt cx="69494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69494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INSIGHTS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07240" y="3291840"/>
            <a:ext cx="5212080" cy="685800"/>
            <a:chOff x="0" y="0"/>
            <a:chExt cx="694944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9440" cy="914400"/>
            </a:xfrm>
            <a:custGeom>
              <a:avLst/>
              <a:gdLst/>
              <a:ahLst/>
              <a:cxnLst/>
              <a:rect r="r" b="b" t="t" l="l"/>
              <a:pathLst>
                <a:path h="914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694944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EC48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38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07240" y="3977640"/>
            <a:ext cx="5212080" cy="548640"/>
            <a:chOff x="0" y="0"/>
            <a:chExt cx="69494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94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Peak day predicted (Apr 19, weekend)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07240" y="4663440"/>
            <a:ext cx="5212080" cy="685800"/>
            <a:chOff x="0" y="0"/>
            <a:chExt cx="694944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9440" cy="914400"/>
            </a:xfrm>
            <a:custGeom>
              <a:avLst/>
              <a:gdLst/>
              <a:ahLst/>
              <a:cxnLst/>
              <a:rect r="r" b="b" t="t" l="l"/>
              <a:pathLst>
                <a:path h="914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694944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75%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07240" y="5349240"/>
            <a:ext cx="5212080" cy="548640"/>
            <a:chOff x="0" y="0"/>
            <a:chExt cx="69494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94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Average forecast confidence score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07240" y="6035040"/>
            <a:ext cx="5212080" cy="685800"/>
            <a:chOff x="0" y="0"/>
            <a:chExt cx="694944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9440" cy="914400"/>
            </a:xfrm>
            <a:custGeom>
              <a:avLst/>
              <a:gdLst/>
              <a:ahLst/>
              <a:cxnLst/>
              <a:rect r="r" b="b" t="t" l="l"/>
              <a:pathLst>
                <a:path h="914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694944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07240" y="6720840"/>
            <a:ext cx="5212080" cy="548640"/>
            <a:chOff x="0" y="0"/>
            <a:chExt cx="694944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94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SKUs flagged for high demand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07240" y="7406640"/>
            <a:ext cx="5212080" cy="685800"/>
            <a:chOff x="0" y="0"/>
            <a:chExt cx="694944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0" cy="914400"/>
            </a:xfrm>
            <a:custGeom>
              <a:avLst/>
              <a:gdLst/>
              <a:ahLst/>
              <a:cxnLst/>
              <a:rect r="r" b="b" t="t" l="l"/>
              <a:pathLst>
                <a:path h="914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694944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6366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1.2×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07240" y="8092440"/>
            <a:ext cx="5212080" cy="548640"/>
            <a:chOff x="0" y="0"/>
            <a:chExt cx="694944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94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Weekend uplift vs weekday baseline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Quantifiable value from automation, accuracy, and speed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6275" y="2185035"/>
            <a:ext cx="8248650" cy="3173730"/>
            <a:chOff x="0" y="0"/>
            <a:chExt cx="10998200" cy="4231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09728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4218940"/>
                  </a:lnTo>
                  <a:cubicBezTo>
                    <a:pt x="10998200" y="4225925"/>
                    <a:pt x="10992485" y="4231640"/>
                    <a:pt x="10985500" y="4231640"/>
                  </a:cubicBezTo>
                  <a:lnTo>
                    <a:pt x="12700" y="4231640"/>
                  </a:lnTo>
                  <a:cubicBezTo>
                    <a:pt x="5715" y="4231640"/>
                    <a:pt x="0" y="4225925"/>
                    <a:pt x="0" y="42189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218940"/>
                  </a:lnTo>
                  <a:lnTo>
                    <a:pt x="12700" y="4218940"/>
                  </a:lnTo>
                  <a:lnTo>
                    <a:pt x="12700" y="4206240"/>
                  </a:lnTo>
                  <a:lnTo>
                    <a:pt x="10985500" y="4206240"/>
                  </a:lnTo>
                  <a:lnTo>
                    <a:pt x="10985500" y="4218940"/>
                  </a:lnTo>
                  <a:lnTo>
                    <a:pt x="10972800" y="421894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0" y="2194560"/>
            <a:ext cx="205740" cy="3154680"/>
            <a:chOff x="0" y="0"/>
            <a:chExt cx="274320" cy="4206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320" cy="4206240"/>
            </a:xfrm>
            <a:custGeom>
              <a:avLst/>
              <a:gdLst/>
              <a:ahLst/>
              <a:cxnLst/>
              <a:rect r="r" b="b" t="t" l="l"/>
              <a:pathLst>
                <a:path h="420624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" y="2404110"/>
            <a:ext cx="740664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6366F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85→0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34440" y="3840480"/>
            <a:ext cx="7406640" cy="548640"/>
            <a:chOff x="0" y="0"/>
            <a:chExt cx="9875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planners needed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4389120"/>
            <a:ext cx="7406640" cy="685800"/>
            <a:chOff x="0" y="0"/>
            <a:chExt cx="987552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875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85 stores forecast automatically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17355" y="2185035"/>
            <a:ext cx="8248650" cy="3173730"/>
            <a:chOff x="0" y="0"/>
            <a:chExt cx="10998200" cy="4231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109728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4218940"/>
                  </a:lnTo>
                  <a:cubicBezTo>
                    <a:pt x="10998200" y="4225925"/>
                    <a:pt x="10992485" y="4231640"/>
                    <a:pt x="10985500" y="4231640"/>
                  </a:cubicBezTo>
                  <a:lnTo>
                    <a:pt x="12700" y="4231640"/>
                  </a:lnTo>
                  <a:cubicBezTo>
                    <a:pt x="5715" y="4231640"/>
                    <a:pt x="0" y="4225925"/>
                    <a:pt x="0" y="42189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218940"/>
                  </a:lnTo>
                  <a:lnTo>
                    <a:pt x="12700" y="4218940"/>
                  </a:lnTo>
                  <a:lnTo>
                    <a:pt x="12700" y="4206240"/>
                  </a:lnTo>
                  <a:lnTo>
                    <a:pt x="10985500" y="4206240"/>
                  </a:lnTo>
                  <a:lnTo>
                    <a:pt x="10985500" y="4218940"/>
                  </a:lnTo>
                  <a:lnTo>
                    <a:pt x="10972800" y="421894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26880" y="2194560"/>
            <a:ext cx="205740" cy="3154680"/>
            <a:chOff x="0" y="0"/>
            <a:chExt cx="274320" cy="4206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4320" cy="4206240"/>
            </a:xfrm>
            <a:custGeom>
              <a:avLst/>
              <a:gdLst/>
              <a:ahLst/>
              <a:cxnLst/>
              <a:rect r="r" b="b" t="t" l="l"/>
              <a:pathLst>
                <a:path h="420624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875520" y="2404110"/>
            <a:ext cx="740664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EC48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 days → 0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75520" y="3840480"/>
            <a:ext cx="7406640" cy="548640"/>
            <a:chOff x="0" y="0"/>
            <a:chExt cx="98755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Reorder delay eliminated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75520" y="4389120"/>
            <a:ext cx="7406640" cy="685800"/>
            <a:chOff x="0" y="0"/>
            <a:chExt cx="987552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875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Alerts arrive BEFORE stockouts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6275" y="5614035"/>
            <a:ext cx="8248650" cy="3173730"/>
            <a:chOff x="0" y="0"/>
            <a:chExt cx="10998200" cy="4231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109728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4218940"/>
                  </a:lnTo>
                  <a:cubicBezTo>
                    <a:pt x="10998200" y="4225925"/>
                    <a:pt x="10992485" y="4231640"/>
                    <a:pt x="10985500" y="4231640"/>
                  </a:cubicBezTo>
                  <a:lnTo>
                    <a:pt x="12700" y="4231640"/>
                  </a:lnTo>
                  <a:cubicBezTo>
                    <a:pt x="5715" y="4231640"/>
                    <a:pt x="0" y="4225925"/>
                    <a:pt x="0" y="42189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218940"/>
                  </a:lnTo>
                  <a:lnTo>
                    <a:pt x="12700" y="4218940"/>
                  </a:lnTo>
                  <a:lnTo>
                    <a:pt x="12700" y="4206240"/>
                  </a:lnTo>
                  <a:lnTo>
                    <a:pt x="10985500" y="4206240"/>
                  </a:lnTo>
                  <a:lnTo>
                    <a:pt x="10985500" y="4218940"/>
                  </a:lnTo>
                  <a:lnTo>
                    <a:pt x="10972800" y="421894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85800" y="5623560"/>
            <a:ext cx="205740" cy="3154680"/>
            <a:chOff x="0" y="0"/>
            <a:chExt cx="274320" cy="4206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320" cy="4206240"/>
            </a:xfrm>
            <a:custGeom>
              <a:avLst/>
              <a:gdLst/>
              <a:ahLst/>
              <a:cxnLst/>
              <a:rect r="r" b="b" t="t" l="l"/>
              <a:pathLst>
                <a:path h="420624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34440" y="5833110"/>
            <a:ext cx="740664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14B8A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50 → 2,400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4440" y="7269480"/>
            <a:ext cx="7406640" cy="548640"/>
            <a:chOff x="0" y="0"/>
            <a:chExt cx="9875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SKUs forecasted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34440" y="7818120"/>
            <a:ext cx="7406640" cy="685800"/>
            <a:chOff x="0" y="0"/>
            <a:chExt cx="987552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875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active product, every store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17355" y="5614035"/>
            <a:ext cx="8248650" cy="3173730"/>
            <a:chOff x="0" y="0"/>
            <a:chExt cx="10998200" cy="4231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2700" y="12700"/>
              <a:ext cx="109728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4218940"/>
                  </a:lnTo>
                  <a:cubicBezTo>
                    <a:pt x="10998200" y="4225925"/>
                    <a:pt x="10992485" y="4231640"/>
                    <a:pt x="10985500" y="4231640"/>
                  </a:cubicBezTo>
                  <a:lnTo>
                    <a:pt x="12700" y="4231640"/>
                  </a:lnTo>
                  <a:cubicBezTo>
                    <a:pt x="5715" y="4231640"/>
                    <a:pt x="0" y="4225925"/>
                    <a:pt x="0" y="42189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218940"/>
                  </a:lnTo>
                  <a:lnTo>
                    <a:pt x="12700" y="4218940"/>
                  </a:lnTo>
                  <a:lnTo>
                    <a:pt x="12700" y="4206240"/>
                  </a:lnTo>
                  <a:lnTo>
                    <a:pt x="10985500" y="4206240"/>
                  </a:lnTo>
                  <a:lnTo>
                    <a:pt x="10985500" y="4218940"/>
                  </a:lnTo>
                  <a:lnTo>
                    <a:pt x="10972800" y="421894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26880" y="5623560"/>
            <a:ext cx="205740" cy="3154680"/>
            <a:chOff x="0" y="0"/>
            <a:chExt cx="274320" cy="4206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4320" cy="4206240"/>
            </a:xfrm>
            <a:custGeom>
              <a:avLst/>
              <a:gdLst/>
              <a:ahLst/>
              <a:cxnLst/>
              <a:rect r="r" b="b" t="t" l="l"/>
              <a:pathLst>
                <a:path h="420624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875520" y="5833110"/>
            <a:ext cx="740664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Pay-per-use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875520" y="7269480"/>
            <a:ext cx="7406640" cy="548640"/>
            <a:chOff x="0" y="0"/>
            <a:chExt cx="98755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model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75520" y="7818120"/>
            <a:ext cx="7406640" cy="685800"/>
            <a:chOff x="0" y="0"/>
            <a:chExt cx="987552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875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idle servers · Scales to zero overnight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5800" y="9189720"/>
            <a:ext cx="16870680" cy="548640"/>
            <a:chOff x="0" y="0"/>
            <a:chExt cx="2249424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49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2494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→ Eliminates the 18% revenue loss from stockouts AND reduces working capital tied up in overstock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960120" cy="960120"/>
            <a:chOff x="0" y="0"/>
            <a:chExt cx="128016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28016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20240" y="541020"/>
            <a:ext cx="15773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Stack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0240" y="1264920"/>
            <a:ext cx="15773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What's under the hood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800" y="2194560"/>
            <a:ext cx="4114800" cy="754380"/>
            <a:chOff x="0" y="0"/>
            <a:chExt cx="5486400" cy="1005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5800" y="2194560"/>
            <a:ext cx="4114800" cy="754380"/>
            <a:chOff x="0" y="0"/>
            <a:chExt cx="548640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486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4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" y="3145155"/>
            <a:ext cx="4133850" cy="1802130"/>
            <a:chOff x="0" y="0"/>
            <a:chExt cx="5511800" cy="2402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0120" y="3429000"/>
            <a:ext cx="3566160" cy="617220"/>
            <a:chOff x="0" y="0"/>
            <a:chExt cx="475488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3.12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4046220"/>
            <a:ext cx="3566160" cy="685800"/>
            <a:chOff x="0" y="0"/>
            <a:chExt cx="475488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Lambda runtime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6275" y="5133975"/>
            <a:ext cx="4133850" cy="1802130"/>
            <a:chOff x="0" y="0"/>
            <a:chExt cx="5511800" cy="2402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20" y="5417820"/>
            <a:ext cx="3566160" cy="617220"/>
            <a:chOff x="0" y="0"/>
            <a:chExt cx="475488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boto3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" y="6035040"/>
            <a:ext cx="3566160" cy="685800"/>
            <a:chOff x="0" y="0"/>
            <a:chExt cx="475488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AWS SDK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6275" y="7122795"/>
            <a:ext cx="4133850" cy="1802130"/>
            <a:chOff x="0" y="0"/>
            <a:chExt cx="5511800" cy="2402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120" y="7406640"/>
            <a:ext cx="3566160" cy="617220"/>
            <a:chOff x="0" y="0"/>
            <a:chExt cx="475488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Gateway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" y="8023860"/>
            <a:ext cx="3566160" cy="685800"/>
            <a:chOff x="0" y="0"/>
            <a:chExt cx="475488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REST endpoints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74920" y="2194560"/>
            <a:ext cx="4114800" cy="754380"/>
            <a:chOff x="0" y="0"/>
            <a:chExt cx="548640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074920" y="2194560"/>
            <a:ext cx="4114800" cy="754380"/>
            <a:chOff x="0" y="0"/>
            <a:chExt cx="548640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486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4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065395" y="3145155"/>
            <a:ext cx="4133850" cy="1802130"/>
            <a:chOff x="0" y="0"/>
            <a:chExt cx="5511800" cy="2402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349240" y="3429000"/>
            <a:ext cx="3566160" cy="617220"/>
            <a:chOff x="0" y="0"/>
            <a:chExt cx="475488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DynamoDB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349240" y="4046220"/>
            <a:ext cx="3566160" cy="685800"/>
            <a:chOff x="0" y="0"/>
            <a:chExt cx="475488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NoSQL storage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065395" y="5133975"/>
            <a:ext cx="4133850" cy="1802130"/>
            <a:chOff x="0" y="0"/>
            <a:chExt cx="5511800" cy="24028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349240" y="5417820"/>
            <a:ext cx="3566160" cy="617220"/>
            <a:chOff x="0" y="0"/>
            <a:chExt cx="4754880" cy="8229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S3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349240" y="6035040"/>
            <a:ext cx="3566160" cy="685800"/>
            <a:chOff x="0" y="0"/>
            <a:chExt cx="475488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 lake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065395" y="7122795"/>
            <a:ext cx="4133850" cy="1802130"/>
            <a:chOff x="0" y="0"/>
            <a:chExt cx="5511800" cy="2402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349240" y="7406640"/>
            <a:ext cx="3566160" cy="617220"/>
            <a:chOff x="0" y="0"/>
            <a:chExt cx="4754880" cy="8229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Textract / Comprehend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349240" y="8023860"/>
            <a:ext cx="3566160" cy="685800"/>
            <a:chOff x="0" y="0"/>
            <a:chExt cx="4754880" cy="914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AI ingestion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464040" y="2194560"/>
            <a:ext cx="4114800" cy="754380"/>
            <a:chOff x="0" y="0"/>
            <a:chExt cx="5486400" cy="1005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464040" y="2194560"/>
            <a:ext cx="4114800" cy="754380"/>
            <a:chOff x="0" y="0"/>
            <a:chExt cx="5486400" cy="10058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486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4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454515" y="3145155"/>
            <a:ext cx="4133850" cy="1802130"/>
            <a:chOff x="0" y="0"/>
            <a:chExt cx="5511800" cy="24028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738360" y="3429000"/>
            <a:ext cx="3566160" cy="617220"/>
            <a:chOff x="0" y="0"/>
            <a:chExt cx="4754880" cy="8229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HTML5 / CSS3 / JS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738360" y="4046220"/>
            <a:ext cx="3566160" cy="685800"/>
            <a:chOff x="0" y="0"/>
            <a:chExt cx="4754880" cy="9144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Single-page app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454515" y="5133975"/>
            <a:ext cx="4133850" cy="1802130"/>
            <a:chOff x="0" y="0"/>
            <a:chExt cx="5511800" cy="24028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738360" y="5417820"/>
            <a:ext cx="3566160" cy="617220"/>
            <a:chOff x="0" y="0"/>
            <a:chExt cx="4754880" cy="8229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Chart.js 4.4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738360" y="6035040"/>
            <a:ext cx="3566160" cy="685800"/>
            <a:chOff x="0" y="0"/>
            <a:chExt cx="4754880" cy="914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 viz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454515" y="7122795"/>
            <a:ext cx="4133850" cy="1802130"/>
            <a:chOff x="0" y="0"/>
            <a:chExt cx="5511800" cy="24028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738360" y="7406640"/>
            <a:ext cx="3566160" cy="617220"/>
            <a:chOff x="0" y="0"/>
            <a:chExt cx="4754880" cy="8229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Cognito JS SDK 6.3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738360" y="8023860"/>
            <a:ext cx="3566160" cy="685800"/>
            <a:chOff x="0" y="0"/>
            <a:chExt cx="475488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Auth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3853160" y="2194560"/>
            <a:ext cx="4114800" cy="754380"/>
            <a:chOff x="0" y="0"/>
            <a:chExt cx="5486400" cy="10058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853160" y="2194560"/>
            <a:ext cx="4114800" cy="754380"/>
            <a:chOff x="0" y="0"/>
            <a:chExt cx="5486400" cy="10058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5486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4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INFRASTRUCTURE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843635" y="3145155"/>
            <a:ext cx="4133850" cy="1802130"/>
            <a:chOff x="0" y="0"/>
            <a:chExt cx="5511800" cy="24028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4127480" y="3429000"/>
            <a:ext cx="3566160" cy="617220"/>
            <a:chOff x="0" y="0"/>
            <a:chExt cx="4754880" cy="8229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VPC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127480" y="4046220"/>
            <a:ext cx="3566160" cy="685800"/>
            <a:chOff x="0" y="0"/>
            <a:chExt cx="4754880" cy="9144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Multi-AZ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843635" y="5133975"/>
            <a:ext cx="4133850" cy="1802130"/>
            <a:chOff x="0" y="0"/>
            <a:chExt cx="5511800" cy="24028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4127480" y="5417820"/>
            <a:ext cx="3566160" cy="617220"/>
            <a:chOff x="0" y="0"/>
            <a:chExt cx="4754880" cy="8229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IAM Roles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127480" y="6035040"/>
            <a:ext cx="3566160" cy="685800"/>
            <a:chOff x="0" y="0"/>
            <a:chExt cx="4754880" cy="9144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Least-privilege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843635" y="7122795"/>
            <a:ext cx="4133850" cy="1802130"/>
            <a:chOff x="0" y="0"/>
            <a:chExt cx="5511800" cy="24028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2700" y="12700"/>
              <a:ext cx="5486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511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2390140"/>
                  </a:lnTo>
                  <a:cubicBezTo>
                    <a:pt x="5511800" y="2397125"/>
                    <a:pt x="5506085" y="2402840"/>
                    <a:pt x="549910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499100" y="2377440"/>
                  </a:lnTo>
                  <a:lnTo>
                    <a:pt x="5499100" y="2390140"/>
                  </a:lnTo>
                  <a:lnTo>
                    <a:pt x="5486400" y="23901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4127480" y="7406640"/>
            <a:ext cx="3566160" cy="617220"/>
            <a:chOff x="0" y="0"/>
            <a:chExt cx="4754880" cy="8229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475488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CloudTrail / CloudWatch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4127480" y="8023860"/>
            <a:ext cx="3566160" cy="685800"/>
            <a:chOff x="0" y="0"/>
            <a:chExt cx="4754880" cy="9144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47548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Audit &amp; logs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0" y="9806940"/>
            <a:ext cx="18242280" cy="480060"/>
            <a:chOff x="0" y="0"/>
            <a:chExt cx="24323040" cy="6400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4323039" cy="640080"/>
            </a:xfrm>
            <a:custGeom>
              <a:avLst/>
              <a:gdLst/>
              <a:ahLst/>
              <a:cxnLst/>
              <a:rect r="r" b="b" t="t" l="l"/>
              <a:pathLst>
                <a:path h="6400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A0E27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548640" y="9848088"/>
            <a:ext cx="10972800" cy="411480"/>
            <a:chOff x="0" y="0"/>
            <a:chExt cx="14630400" cy="54864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DEMAND FORECASTING  ·  AWS SERVERLESS PLATFORM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7419320" y="9848088"/>
            <a:ext cx="548640" cy="411480"/>
            <a:chOff x="0" y="0"/>
            <a:chExt cx="731520" cy="54864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14800" y="-41148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548640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291840"/>
            <a:ext cx="18242280" cy="2057400"/>
            <a:chOff x="0" y="0"/>
            <a:chExt cx="24323040" cy="274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23039" cy="2743200"/>
            </a:xfrm>
            <a:custGeom>
              <a:avLst/>
              <a:gdLst/>
              <a:ahLst/>
              <a:cxnLst/>
              <a:rect r="r" b="b" t="t" l="l"/>
              <a:pathLst>
                <a:path h="274320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A0E27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23850"/>
              <a:ext cx="24323040" cy="306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0"/>
                </a:lnSpc>
              </a:pPr>
              <a:r>
                <a:rPr lang="en-US" b="true" sz="1500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5486400"/>
            <a:ext cx="18242280" cy="685800"/>
            <a:chOff x="0" y="0"/>
            <a:chExt cx="2432304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2303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8302" r="0" b="-4683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432304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i="true" spc="600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  ·  Discussion  ·  Live Demo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35165" y="6623685"/>
            <a:ext cx="4171950" cy="57150"/>
            <a:chOff x="0" y="0"/>
            <a:chExt cx="55626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8100" y="0"/>
              <a:ext cx="5486400" cy="76200"/>
            </a:xfrm>
            <a:custGeom>
              <a:avLst/>
              <a:gdLst/>
              <a:ahLst/>
              <a:cxnLst/>
              <a:rect r="r" b="b" t="t" l="l"/>
              <a:pathLst>
                <a:path h="76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860" y="7132320"/>
            <a:ext cx="18242280" cy="548640"/>
            <a:chOff x="0" y="0"/>
            <a:chExt cx="2432304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23039" cy="731520"/>
            </a:xfrm>
            <a:custGeom>
              <a:avLst/>
              <a:gdLst/>
              <a:ahLst/>
              <a:cxnLst/>
              <a:rect r="r" b="b" t="t" l="l"/>
              <a:pathLst>
                <a:path h="73152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877" r="0" b="-59787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4323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sz="264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Inventory Demand Forecasting Platform  ·  Built on AWS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DAHIsky_ZuE</dc:identifier>
  <dcterms:modified xsi:type="dcterms:W3CDTF">2011-08-01T06:04:30Z</dcterms:modified>
  <cp:revision>1</cp:revision>
  <dc:title>Grp-5_Inventory_Forecasting_Project.pptx</dc:title>
</cp:coreProperties>
</file>